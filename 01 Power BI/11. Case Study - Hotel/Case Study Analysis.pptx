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notesMasterIdLst>
    <p:notesMasterId r:id="rId34"/>
  </p:notesMasterIdLst>
  <p:sldIdLst>
    <p:sldId id="256" r:id="rId2"/>
    <p:sldId id="268" r:id="rId3"/>
    <p:sldId id="257" r:id="rId4"/>
    <p:sldId id="284" r:id="rId5"/>
    <p:sldId id="283" r:id="rId6"/>
    <p:sldId id="285" r:id="rId7"/>
    <p:sldId id="287" r:id="rId8"/>
    <p:sldId id="270" r:id="rId9"/>
    <p:sldId id="271" r:id="rId10"/>
    <p:sldId id="288" r:id="rId11"/>
    <p:sldId id="289" r:id="rId12"/>
    <p:sldId id="272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75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281" r:id="rId31"/>
    <p:sldId id="282" r:id="rId32"/>
    <p:sldId id="30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8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94423-E151-4166-BD0B-13E80BB44806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2700D-A6ED-4BB6-BD41-C59139B53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36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2700D-A6ED-4BB6-BD41-C59139B531E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481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FF21-31CC-5C9A-7D0A-0A4C8161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030B8-C3A9-8FFF-4688-FABD73D9F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E9CC5-E72E-A577-834A-B5E3B8BD2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1BEE4-A0D5-FDEA-75A3-8A3162617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2700D-A6ED-4BB6-BD41-C59139B531E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51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498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054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970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0926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310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397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739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1379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155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084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110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D5DD9-A8FC-437C-BB65-D9094C0371FF}" type="datetimeFigureOut">
              <a:rPr lang="en-CA" smtClean="0"/>
              <a:t>2025-03-28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4969-D386-4BA6-9E7A-CAA6A41D7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22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B5989-DEC9-DC6D-5773-9B3BF3A6F1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6511CC-75AF-A21A-57CB-24CBAA57D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kumimoji="0" lang="en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Hotel Booking Cancellation Analysis</a:t>
            </a:r>
            <a:endParaRPr lang="en-CA" b="1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32792-32BD-1DD3-57B6-C0F8D40E7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CA" sz="1100">
                <a:solidFill>
                  <a:srgbClr val="FFFFFF"/>
                </a:solidFill>
              </a:rPr>
              <a:t>ANLT601 – Coursework 20%</a:t>
            </a:r>
          </a:p>
          <a:p>
            <a:r>
              <a:rPr lang="en-CA" sz="1100">
                <a:solidFill>
                  <a:srgbClr val="FFFFFF"/>
                </a:solidFill>
              </a:rPr>
              <a:t>Prepared by: Ke Zhang</a:t>
            </a:r>
          </a:p>
          <a:p>
            <a:r>
              <a:rPr lang="en-CA" sz="1100">
                <a:solidFill>
                  <a:srgbClr val="FFFFFF"/>
                </a:solidFill>
              </a:rPr>
              <a:t>Student ID: 000541779</a:t>
            </a:r>
          </a:p>
          <a:p>
            <a:r>
              <a:rPr lang="en-CA" sz="1100">
                <a:solidFill>
                  <a:srgbClr val="FFFFFF"/>
                </a:solidFill>
              </a:rPr>
              <a:t>Date: MAR. 23, 2025</a:t>
            </a:r>
          </a:p>
        </p:txBody>
      </p:sp>
    </p:spTree>
    <p:extLst>
      <p:ext uri="{BB962C8B-B14F-4D97-AF65-F5344CB8AC3E}">
        <p14:creationId xmlns:p14="http://schemas.microsoft.com/office/powerpoint/2010/main" val="3487031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57B185C9-F2A7-1D26-143D-EDA749D521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2C3DA5-5E3A-51CA-0172-ADE05FAA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rgbClr val="FFFFFF"/>
                </a:solidFill>
              </a:rPr>
              <a:t>Contents /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81EF2-BBB5-5756-E578-B49981F79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Problem Definition</a:t>
            </a:r>
          </a:p>
          <a:p>
            <a:r>
              <a:rPr lang="en-US">
                <a:solidFill>
                  <a:srgbClr val="FFFFFF"/>
                </a:solidFill>
              </a:rPr>
              <a:t>Data Dictionary</a:t>
            </a:r>
          </a:p>
          <a:p>
            <a:r>
              <a:rPr lang="en-US">
                <a:solidFill>
                  <a:srgbClr val="FFFFFF"/>
                </a:solidFill>
              </a:rPr>
              <a:t>Business Problem Overview and Solution Approach</a:t>
            </a:r>
          </a:p>
          <a:p>
            <a:r>
              <a:rPr lang="en-US">
                <a:solidFill>
                  <a:srgbClr val="FFFFFF"/>
                </a:solidFill>
              </a:rPr>
              <a:t>EDA Results</a:t>
            </a:r>
          </a:p>
          <a:p>
            <a:r>
              <a:rPr lang="en-US">
                <a:solidFill>
                  <a:srgbClr val="FFFFFF"/>
                </a:solidFill>
              </a:rPr>
              <a:t>Conclusions and Recommendations</a:t>
            </a:r>
          </a:p>
          <a:p>
            <a:pPr marL="0" indent="0">
              <a:buNone/>
            </a:pPr>
            <a:endParaRPr lang="en-C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617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5846-50D9-7C6C-922B-B1F16F4D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kumimoji="0" lang="en" sz="3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Business Problem Overview and Solution Approach</a:t>
            </a:r>
            <a:endParaRPr lang="en-CA" sz="3000" b="1" dirty="0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13310157-E20D-9EE0-1CEF-26ECDCD1ED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60" t="-1" r="54674" b="-1"/>
          <a:stretch/>
        </p:blipFill>
        <p:spPr>
          <a:xfrm>
            <a:off x="0" y="10"/>
            <a:ext cx="3818467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213FA-AD1D-350A-CF88-DD463E7B4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6957" y="2128757"/>
            <a:ext cx="7593443" cy="4729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🧩 </a:t>
            </a:r>
            <a:r>
              <a:rPr lang="en-CA" altLang="zh-CN" sz="2000" dirty="0"/>
              <a:t>Problem Statement:</a:t>
            </a:r>
          </a:p>
          <a:p>
            <a:pPr marL="0" indent="0">
              <a:buNone/>
            </a:pPr>
            <a:r>
              <a:rPr lang="en-US" altLang="zh-CN" sz="1600" dirty="0"/>
              <a:t>INN Hotels, a hotel chain in Portugal, is currently facing a significant challenge with a high volume of booking cancellations and no-shows.</a:t>
            </a:r>
            <a:br>
              <a:rPr lang="en-US" altLang="zh-CN" sz="1600" dirty="0"/>
            </a:br>
            <a:r>
              <a:rPr lang="en-US" altLang="zh-CN" sz="1600" dirty="0"/>
              <a:t>These cancellations, particularly last-minute ones, result in revenue loss, inefficient room utilization, and increased operational costs.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zh-CN" altLang="en-US" sz="2000" dirty="0"/>
              <a:t>🧠 </a:t>
            </a:r>
            <a:r>
              <a:rPr lang="en-CA" altLang="zh-CN" sz="2000" dirty="0"/>
              <a:t>Solution Approach: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1600" dirty="0"/>
              <a:t>In order to address this issue, we will conduct a structured Exploratory Data Analysis (EDA) using Power BI.</a:t>
            </a:r>
            <a:br>
              <a:rPr lang="en-US" altLang="zh-CN" sz="1600" dirty="0"/>
            </a:br>
            <a:r>
              <a:rPr lang="en-US" altLang="zh-CN" sz="1600" dirty="0"/>
              <a:t>The analysis will be divided into two phases: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/>
              <a:t>Univariate Analysis</a:t>
            </a:r>
            <a:r>
              <a:rPr lang="en-US" altLang="zh-CN" sz="1600" dirty="0"/>
              <a:t> to understand individual variables that might influence cancellations.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/>
              <a:t>Bivariate Analysis</a:t>
            </a:r>
            <a:r>
              <a:rPr lang="en-US" altLang="zh-CN" sz="1600" dirty="0"/>
              <a:t> to explore interactions between variables.</a:t>
            </a:r>
            <a:br>
              <a:rPr lang="en-US" altLang="zh-CN" sz="1600" dirty="0"/>
            </a:br>
            <a:r>
              <a:rPr lang="en-US" altLang="zh-CN" sz="1600" dirty="0"/>
              <a:t>Based on the insights generated, we will propose actionable strategies to reduce cancellations and optimize booking policies.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412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AC2CA-0A70-5DD6-9C77-C4D57645C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D0E2F-A1E7-8894-2E80-C47DE302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Century Gothic"/>
              </a:rPr>
              <a:t>Data Dictionary</a:t>
            </a:r>
            <a:endParaRPr lang="en-US" sz="4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81621-7C15-C7A2-CE49-B9C642669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altLang="zh-CN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en-US" altLang="zh-CN" sz="20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Booking Details</a:t>
            </a:r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8BA0A00-3593-08EA-28FF-878C66FB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258014"/>
              </p:ext>
            </p:extLst>
          </p:nvPr>
        </p:nvGraphicFramePr>
        <p:xfrm>
          <a:off x="478534" y="1896034"/>
          <a:ext cx="11327550" cy="447203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565019">
                  <a:extLst>
                    <a:ext uri="{9D8B030D-6E8A-4147-A177-3AD203B41FA5}">
                      <a16:colId xmlns:a16="http://schemas.microsoft.com/office/drawing/2014/main" val="3939864650"/>
                    </a:ext>
                  </a:extLst>
                </a:gridCol>
                <a:gridCol w="5762531">
                  <a:extLst>
                    <a:ext uri="{9D8B030D-6E8A-4147-A177-3AD203B41FA5}">
                      <a16:colId xmlns:a16="http://schemas.microsoft.com/office/drawing/2014/main" val="3101873189"/>
                    </a:ext>
                  </a:extLst>
                </a:gridCol>
              </a:tblGrid>
              <a:tr h="540396">
                <a:tc>
                  <a:txBody>
                    <a:bodyPr/>
                    <a:lstStyle/>
                    <a:p>
                      <a:r>
                        <a:rPr lang="en-CA" sz="2500" dirty="0"/>
                        <a:t>Field</a:t>
                      </a:r>
                    </a:p>
                  </a:txBody>
                  <a:tcPr marL="125213" marR="125213" marT="62606" marB="62606" anchor="ctr"/>
                </a:tc>
                <a:tc>
                  <a:txBody>
                    <a:bodyPr/>
                    <a:lstStyle/>
                    <a:p>
                      <a:r>
                        <a:rPr lang="en-CA" sz="2500"/>
                        <a:t>Description</a:t>
                      </a:r>
                    </a:p>
                  </a:txBody>
                  <a:tcPr marL="125213" marR="125213" marT="62606" marB="62606" anchor="ctr"/>
                </a:tc>
                <a:extLst>
                  <a:ext uri="{0D108BD9-81ED-4DB2-BD59-A6C34878D82A}">
                    <a16:rowId xmlns:a16="http://schemas.microsoft.com/office/drawing/2014/main" val="2777871785"/>
                  </a:ext>
                </a:extLst>
              </a:tr>
              <a:tr h="540396">
                <a:tc>
                  <a:txBody>
                    <a:bodyPr/>
                    <a:lstStyle/>
                    <a:p>
                      <a:r>
                        <a:rPr lang="en-CA" sz="2500" dirty="0" err="1"/>
                        <a:t>Booking_ID</a:t>
                      </a:r>
                      <a:endParaRPr lang="en-CA" sz="2500" dirty="0"/>
                    </a:p>
                  </a:txBody>
                  <a:tcPr marL="125213" marR="125213" marT="62606" marB="62606"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Unique ID for each booking</a:t>
                      </a:r>
                    </a:p>
                  </a:txBody>
                  <a:tcPr marL="125213" marR="125213" marT="62606" marB="62606" anchor="ctr"/>
                </a:tc>
                <a:extLst>
                  <a:ext uri="{0D108BD9-81ED-4DB2-BD59-A6C34878D82A}">
                    <a16:rowId xmlns:a16="http://schemas.microsoft.com/office/drawing/2014/main" val="467045150"/>
                  </a:ext>
                </a:extLst>
              </a:tr>
              <a:tr h="919213">
                <a:tc>
                  <a:txBody>
                    <a:bodyPr/>
                    <a:lstStyle/>
                    <a:p>
                      <a:r>
                        <a:rPr lang="en-CA" altLang="zh-CN" sz="2500" dirty="0" err="1"/>
                        <a:t>booking_status</a:t>
                      </a:r>
                      <a:endParaRPr lang="zh-CN" altLang="en-US" sz="2500" dirty="0"/>
                    </a:p>
                  </a:txBody>
                  <a:tcPr marL="125213" marR="125213" marT="62606" marB="62606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Whether the booking was canceled or not</a:t>
                      </a:r>
                    </a:p>
                  </a:txBody>
                  <a:tcPr marL="125213" marR="125213" marT="62606" marB="62606" anchor="ctr"/>
                </a:tc>
                <a:extLst>
                  <a:ext uri="{0D108BD9-81ED-4DB2-BD59-A6C34878D82A}">
                    <a16:rowId xmlns:a16="http://schemas.microsoft.com/office/drawing/2014/main" val="3401438560"/>
                  </a:ext>
                </a:extLst>
              </a:tr>
              <a:tr h="540396">
                <a:tc>
                  <a:txBody>
                    <a:bodyPr/>
                    <a:lstStyle/>
                    <a:p>
                      <a:r>
                        <a:rPr lang="en-CA" sz="2500" dirty="0" err="1"/>
                        <a:t>lead_days</a:t>
                      </a:r>
                      <a:endParaRPr lang="en-CA" sz="2500" dirty="0"/>
                    </a:p>
                  </a:txBody>
                  <a:tcPr marL="125213" marR="125213" marT="62606" marB="62606"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Days between booking and arrival</a:t>
                      </a:r>
                    </a:p>
                  </a:txBody>
                  <a:tcPr marL="125213" marR="125213" marT="62606" marB="62606" anchor="ctr"/>
                </a:tc>
                <a:extLst>
                  <a:ext uri="{0D108BD9-81ED-4DB2-BD59-A6C34878D82A}">
                    <a16:rowId xmlns:a16="http://schemas.microsoft.com/office/drawing/2014/main" val="2813126821"/>
                  </a:ext>
                </a:extLst>
              </a:tr>
              <a:tr h="919213">
                <a:tc>
                  <a:txBody>
                    <a:bodyPr/>
                    <a:lstStyle/>
                    <a:p>
                      <a:r>
                        <a:rPr lang="en-CA" sz="2500" dirty="0" err="1"/>
                        <a:t>market_segment_type</a:t>
                      </a:r>
                      <a:endParaRPr lang="en-CA" sz="2500" dirty="0"/>
                    </a:p>
                  </a:txBody>
                  <a:tcPr marL="125213" marR="125213" marT="62606" marB="62606"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Booking source/channel (e.g., Online, Offline, Corporate)</a:t>
                      </a:r>
                    </a:p>
                  </a:txBody>
                  <a:tcPr marL="125213" marR="125213" marT="62606" marB="62606" anchor="ctr"/>
                </a:tc>
                <a:extLst>
                  <a:ext uri="{0D108BD9-81ED-4DB2-BD59-A6C34878D82A}">
                    <a16:rowId xmlns:a16="http://schemas.microsoft.com/office/drawing/2014/main" val="2571334703"/>
                  </a:ext>
                </a:extLst>
              </a:tr>
              <a:tr h="270198">
                <a:tc>
                  <a:txBody>
                    <a:bodyPr/>
                    <a:lstStyle/>
                    <a:p>
                      <a:r>
                        <a:rPr lang="en-CA" sz="2500" dirty="0" err="1"/>
                        <a:t>arrival_year</a:t>
                      </a:r>
                      <a:r>
                        <a:rPr lang="en-CA" sz="2500" dirty="0"/>
                        <a:t> / month / date</a:t>
                      </a:r>
                    </a:p>
                  </a:txBody>
                  <a:tcPr marL="125213" marR="125213" marT="62606" marB="62606" anchor="ctr"/>
                </a:tc>
                <a:tc>
                  <a:txBody>
                    <a:bodyPr/>
                    <a:lstStyle/>
                    <a:p>
                      <a:r>
                        <a:rPr lang="en-CA" sz="2500" dirty="0"/>
                        <a:t>Scheduled arrival time details</a:t>
                      </a:r>
                    </a:p>
                  </a:txBody>
                  <a:tcPr marL="125213" marR="125213" marT="62606" marB="62606" anchor="ctr"/>
                </a:tc>
                <a:extLst>
                  <a:ext uri="{0D108BD9-81ED-4DB2-BD59-A6C34878D82A}">
                    <a16:rowId xmlns:a16="http://schemas.microsoft.com/office/drawing/2014/main" val="3040909796"/>
                  </a:ext>
                </a:extLst>
              </a:tr>
              <a:tr h="270198">
                <a:tc>
                  <a:txBody>
                    <a:bodyPr/>
                    <a:lstStyle/>
                    <a:p>
                      <a:r>
                        <a:rPr lang="en-CA" sz="2500" dirty="0" err="1"/>
                        <a:t>no_of_adults</a:t>
                      </a:r>
                      <a:r>
                        <a:rPr lang="en-CA" sz="2500" dirty="0"/>
                        <a:t> / children</a:t>
                      </a:r>
                    </a:p>
                  </a:txBody>
                  <a:tcPr marL="125213" marR="125213" marT="62606" marB="62606" anchor="ctr"/>
                </a:tc>
                <a:tc>
                  <a:txBody>
                    <a:bodyPr/>
                    <a:lstStyle/>
                    <a:p>
                      <a:r>
                        <a:rPr lang="en-CA" sz="2500" dirty="0"/>
                        <a:t>Number of the guests</a:t>
                      </a:r>
                    </a:p>
                  </a:txBody>
                  <a:tcPr marL="125213" marR="125213" marT="62606" marB="62606" anchor="ctr"/>
                </a:tc>
                <a:extLst>
                  <a:ext uri="{0D108BD9-81ED-4DB2-BD59-A6C34878D82A}">
                    <a16:rowId xmlns:a16="http://schemas.microsoft.com/office/drawing/2014/main" val="3690572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70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60363-CF89-73E8-ED34-1AD18A4ED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4A5D5-0D60-EC8D-ADBC-56FEB28D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Century Gothic"/>
              </a:rPr>
              <a:t>Data Dictionary</a:t>
            </a:r>
            <a:endParaRPr lang="en-US" sz="4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E592A-6FBF-7862-AFC1-92EBC3AE6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FFFFFF"/>
                </a:solidFill>
              </a:rPr>
              <a:t>2. </a:t>
            </a:r>
            <a:r>
              <a:rPr lang="en-CA" altLang="zh-CN" sz="2000" dirty="0">
                <a:solidFill>
                  <a:srgbClr val="FFFFFF"/>
                </a:solidFill>
              </a:rPr>
              <a:t>Guest Information</a:t>
            </a: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8A41AC-2154-711E-4ABA-2FC0BE804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526302"/>
              </p:ext>
            </p:extLst>
          </p:nvPr>
        </p:nvGraphicFramePr>
        <p:xfrm>
          <a:off x="432225" y="2200081"/>
          <a:ext cx="11327550" cy="429943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597088">
                  <a:extLst>
                    <a:ext uri="{9D8B030D-6E8A-4147-A177-3AD203B41FA5}">
                      <a16:colId xmlns:a16="http://schemas.microsoft.com/office/drawing/2014/main" val="3939864650"/>
                    </a:ext>
                  </a:extLst>
                </a:gridCol>
                <a:gridCol w="5730462">
                  <a:extLst>
                    <a:ext uri="{9D8B030D-6E8A-4147-A177-3AD203B41FA5}">
                      <a16:colId xmlns:a16="http://schemas.microsoft.com/office/drawing/2014/main" val="3101873189"/>
                    </a:ext>
                  </a:extLst>
                </a:gridCol>
              </a:tblGrid>
              <a:tr h="538593">
                <a:tc>
                  <a:txBody>
                    <a:bodyPr/>
                    <a:lstStyle/>
                    <a:p>
                      <a:r>
                        <a:rPr lang="en-CA" sz="2500"/>
                        <a:t>Field</a:t>
                      </a:r>
                    </a:p>
                  </a:txBody>
                  <a:tcPr marL="125935" marR="125935" marT="62967" marB="62967" anchor="ctr"/>
                </a:tc>
                <a:tc>
                  <a:txBody>
                    <a:bodyPr/>
                    <a:lstStyle/>
                    <a:p>
                      <a:r>
                        <a:rPr lang="en-CA" sz="2500"/>
                        <a:t>Description</a:t>
                      </a:r>
                    </a:p>
                  </a:txBody>
                  <a:tcPr marL="125935" marR="125935" marT="62967" marB="62967" anchor="ctr"/>
                </a:tc>
                <a:extLst>
                  <a:ext uri="{0D108BD9-81ED-4DB2-BD59-A6C34878D82A}">
                    <a16:rowId xmlns:a16="http://schemas.microsoft.com/office/drawing/2014/main" val="2777871785"/>
                  </a:ext>
                </a:extLst>
              </a:tr>
              <a:tr h="538593">
                <a:tc>
                  <a:txBody>
                    <a:bodyPr/>
                    <a:lstStyle/>
                    <a:p>
                      <a:r>
                        <a:rPr lang="en-CA" altLang="zh-CN" sz="2500" dirty="0" err="1"/>
                        <a:t>repeated_guest</a:t>
                      </a:r>
                      <a:endParaRPr lang="en-CA" sz="2500" dirty="0"/>
                    </a:p>
                  </a:txBody>
                  <a:tcPr marL="125935" marR="125935" marT="62967" marB="62967"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1 if guest has booked before, 0 otherwise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045150"/>
                  </a:ext>
                </a:extLst>
              </a:tr>
              <a:tr h="915107">
                <a:tc>
                  <a:txBody>
                    <a:bodyPr/>
                    <a:lstStyle/>
                    <a:p>
                      <a:r>
                        <a:rPr lang="en-CA" sz="2500" dirty="0" err="1"/>
                        <a:t>no_of_previous_cancellations</a:t>
                      </a:r>
                      <a:endParaRPr lang="en-CA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Count of past cancellations by the guest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438560"/>
                  </a:ext>
                </a:extLst>
              </a:tr>
              <a:tr h="538593">
                <a:tc>
                  <a:txBody>
                    <a:bodyPr/>
                    <a:lstStyle/>
                    <a:p>
                      <a:r>
                        <a:rPr lang="en-US" sz="2500" dirty="0" err="1"/>
                        <a:t>no_of_previous_bookings_not_canceled</a:t>
                      </a:r>
                      <a:endParaRPr 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Count of past successful bookings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126821"/>
                  </a:ext>
                </a:extLst>
              </a:tr>
              <a:tr h="915107">
                <a:tc>
                  <a:txBody>
                    <a:bodyPr/>
                    <a:lstStyle/>
                    <a:p>
                      <a:r>
                        <a:rPr lang="en-CA" sz="2500" dirty="0" err="1"/>
                        <a:t>required_car_parking_space</a:t>
                      </a:r>
                      <a:endParaRPr lang="en-CA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Whether guest requested a parking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334703"/>
                  </a:ext>
                </a:extLst>
              </a:tr>
              <a:tr h="538593">
                <a:tc>
                  <a:txBody>
                    <a:bodyPr/>
                    <a:lstStyle/>
                    <a:p>
                      <a:r>
                        <a:rPr lang="en-CA" sz="2500" dirty="0" err="1"/>
                        <a:t>no_of_special_requests</a:t>
                      </a:r>
                      <a:endParaRPr lang="en-CA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Number of special requests made (e.g., high floor)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909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22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E0B77-62CF-F633-DCB7-9EA2CCEF8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1C50A-A6CC-7DE5-7233-B1E33DEF0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Century Gothic"/>
              </a:rPr>
              <a:t>Data Dictionary</a:t>
            </a:r>
            <a:endParaRPr lang="en-US" sz="4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ABE1B-5335-7ECA-05A6-35EF489FE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FFFFFF"/>
                </a:solidFill>
              </a:rPr>
              <a:t>3. </a:t>
            </a:r>
            <a:r>
              <a:rPr lang="en-CA" altLang="zh-CN" sz="2000" dirty="0">
                <a:solidFill>
                  <a:srgbClr val="FFFFFF"/>
                </a:solidFill>
              </a:rPr>
              <a:t>Room &amp; Price Details</a:t>
            </a: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E45F78C-B32A-E0B1-C1B8-3F5BD3660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604236"/>
              </p:ext>
            </p:extLst>
          </p:nvPr>
        </p:nvGraphicFramePr>
        <p:xfrm>
          <a:off x="1046319" y="1966293"/>
          <a:ext cx="10099361" cy="451208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990224">
                  <a:extLst>
                    <a:ext uri="{9D8B030D-6E8A-4147-A177-3AD203B41FA5}">
                      <a16:colId xmlns:a16="http://schemas.microsoft.com/office/drawing/2014/main" val="3939864650"/>
                    </a:ext>
                  </a:extLst>
                </a:gridCol>
                <a:gridCol w="5109137">
                  <a:extLst>
                    <a:ext uri="{9D8B030D-6E8A-4147-A177-3AD203B41FA5}">
                      <a16:colId xmlns:a16="http://schemas.microsoft.com/office/drawing/2014/main" val="3101873189"/>
                    </a:ext>
                  </a:extLst>
                </a:gridCol>
              </a:tblGrid>
              <a:tr h="484580">
                <a:tc>
                  <a:txBody>
                    <a:bodyPr/>
                    <a:lstStyle/>
                    <a:p>
                      <a:r>
                        <a:rPr lang="en-CA" sz="2200"/>
                        <a:t>Field</a:t>
                      </a:r>
                    </a:p>
                  </a:txBody>
                  <a:tcPr marL="112280" marR="112280" marT="56140" marB="56140" anchor="ctr"/>
                </a:tc>
                <a:tc>
                  <a:txBody>
                    <a:bodyPr/>
                    <a:lstStyle/>
                    <a:p>
                      <a:r>
                        <a:rPr lang="en-CA" sz="2200"/>
                        <a:t>Description</a:t>
                      </a:r>
                    </a:p>
                  </a:txBody>
                  <a:tcPr marL="112280" marR="112280" marT="56140" marB="56140" anchor="ctr"/>
                </a:tc>
                <a:extLst>
                  <a:ext uri="{0D108BD9-81ED-4DB2-BD59-A6C34878D82A}">
                    <a16:rowId xmlns:a16="http://schemas.microsoft.com/office/drawing/2014/main" val="2777871785"/>
                  </a:ext>
                </a:extLst>
              </a:tr>
              <a:tr h="793516">
                <a:tc>
                  <a:txBody>
                    <a:bodyPr/>
                    <a:lstStyle/>
                    <a:p>
                      <a:r>
                        <a:rPr lang="en-CA" sz="2500" dirty="0" err="1"/>
                        <a:t>room_type_reserved</a:t>
                      </a:r>
                      <a:endParaRPr lang="en-CA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Encoded room type selected by guest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045150"/>
                  </a:ext>
                </a:extLst>
              </a:tr>
              <a:tr h="793516">
                <a:tc>
                  <a:txBody>
                    <a:bodyPr/>
                    <a:lstStyle/>
                    <a:p>
                      <a:r>
                        <a:rPr lang="en-CA" altLang="zh-CN" sz="2500" dirty="0" err="1"/>
                        <a:t>avg_price_per_room</a:t>
                      </a:r>
                      <a:endParaRPr lang="en-CA" sz="2500" dirty="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Average price per day (in euros)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438560"/>
                  </a:ext>
                </a:extLst>
              </a:tr>
              <a:tr h="793516">
                <a:tc>
                  <a:txBody>
                    <a:bodyPr/>
                    <a:lstStyle/>
                    <a:p>
                      <a:r>
                        <a:rPr lang="en-CA" altLang="zh-CN" sz="2500" dirty="0" err="1"/>
                        <a:t>no_of_weekend_nights</a:t>
                      </a:r>
                      <a:endParaRPr lang="en-US" sz="2500" dirty="0"/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r>
                        <a:rPr lang="en-CA" sz="2500" dirty="0"/>
                        <a:t>Weekend nights booked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126821"/>
                  </a:ext>
                </a:extLst>
              </a:tr>
              <a:tr h="793516">
                <a:tc>
                  <a:txBody>
                    <a:bodyPr/>
                    <a:lstStyle/>
                    <a:p>
                      <a:r>
                        <a:rPr lang="en-CA" sz="2500" dirty="0" err="1"/>
                        <a:t>no_of_week_nights</a:t>
                      </a:r>
                      <a:endParaRPr lang="en-CA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2500" dirty="0"/>
                        <a:t>Weekday nights booked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334703"/>
                  </a:ext>
                </a:extLst>
              </a:tr>
              <a:tr h="793516">
                <a:tc>
                  <a:txBody>
                    <a:bodyPr/>
                    <a:lstStyle/>
                    <a:p>
                      <a:r>
                        <a:rPr lang="en-CA" sz="2500" dirty="0" err="1"/>
                        <a:t>type_of_meal_plan</a:t>
                      </a:r>
                      <a:endParaRPr lang="en-CA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Meal plan chosen (e.g., breakfast only, full board)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909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47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85EF5-54AC-6A81-6020-FDEA95D8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AAEF2-74BF-7C27-B1A0-DE522436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Century Gothic"/>
              </a:rPr>
              <a:t>Data Dictionary</a:t>
            </a:r>
            <a:endParaRPr lang="en-US" sz="4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4CB61-12EA-1C5C-4D0E-918BE6746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CA" sz="2000" dirty="0">
                <a:solidFill>
                  <a:srgbClr val="FFFFFF"/>
                </a:solidFill>
              </a:rPr>
              <a:t>Dim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7B638-90C7-3F22-EE97-FB3999734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6" y="1752367"/>
            <a:ext cx="2260952" cy="1879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F34869-087C-D00D-5F08-5E14704991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1" t="2794"/>
          <a:stretch/>
        </p:blipFill>
        <p:spPr>
          <a:xfrm>
            <a:off x="3473210" y="1752367"/>
            <a:ext cx="2209290" cy="2709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00A710-9FF8-7E92-1EAA-2368D0A3F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391" y="1655276"/>
            <a:ext cx="4696009" cy="31773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BAE717-4F1F-2F1F-C155-E4B04EC1F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4304" y="4911995"/>
            <a:ext cx="4696009" cy="189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58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2561-97C1-5C00-B7A8-03977CF8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00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AD7A6-31ED-35FC-9911-E2E463FE6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70" y="1605489"/>
            <a:ext cx="3844830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altLang="zh-CN" b="1" dirty="0"/>
              <a:t>Booking Trend by Date:</a:t>
            </a:r>
          </a:p>
          <a:p>
            <a:pPr marL="0" indent="0">
              <a:buNone/>
            </a:pPr>
            <a:r>
              <a:rPr lang="en-US" altLang="zh-CN" sz="2000" dirty="0"/>
              <a:t>The booking trend over time shows a clear seasonal pattern, with demand starting to rise from early 2018 and peaking around </a:t>
            </a:r>
            <a:r>
              <a:rPr lang="en-US" altLang="zh-CN" sz="2000" b="1" dirty="0"/>
              <a:t>August and October.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In contrast, there is significantly lower booking activity during </a:t>
            </a:r>
            <a:r>
              <a:rPr lang="en-US" altLang="zh-CN" sz="2000" b="1" dirty="0"/>
              <a:t>winter</a:t>
            </a:r>
            <a:r>
              <a:rPr lang="en-US" altLang="zh-CN" sz="2000" dirty="0"/>
              <a:t> </a:t>
            </a:r>
            <a:r>
              <a:rPr lang="en-US" altLang="zh-CN" sz="2000" b="1" dirty="0"/>
              <a:t>months</a:t>
            </a:r>
            <a:r>
              <a:rPr lang="en-US" altLang="zh-CN" sz="2000" dirty="0"/>
              <a:t> such </a:t>
            </a:r>
            <a:r>
              <a:rPr lang="en-US" altLang="zh-CN" sz="2000" b="1" dirty="0"/>
              <a:t>as January and February.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These fluctuations suggest a strong seasonal demand, requiring the hotel to plan its resources accordingly.</a:t>
            </a:r>
            <a:endParaRPr lang="en-CA" sz="2000" dirty="0"/>
          </a:p>
        </p:txBody>
      </p:sp>
      <p:pic>
        <p:nvPicPr>
          <p:cNvPr id="13" name="Picture 12" descr="A graph of blue lines&#10;&#10;AI-generated content may be incorrect.">
            <a:extLst>
              <a:ext uri="{FF2B5EF4-FFF2-40B4-BE49-F238E27FC236}">
                <a16:creationId xmlns:a16="http://schemas.microsoft.com/office/drawing/2014/main" id="{37307652-EBD5-BD10-2BFB-519746D36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169" y="1605490"/>
            <a:ext cx="7981865" cy="420211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89F153D-48CD-3590-94E4-13103A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S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trategies to effectively manage and accommodate the increased demand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11909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9C769-D7F3-D05A-CD4E-B05E475E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FA526-EB8B-FCE0-0C8C-5E886CCAA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70" y="1605489"/>
            <a:ext cx="3844830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altLang="zh-CN" b="1" dirty="0"/>
              <a:t>Monthly Bookings :</a:t>
            </a:r>
          </a:p>
          <a:p>
            <a:pPr marL="0" indent="0">
              <a:buNone/>
            </a:pPr>
            <a:r>
              <a:rPr lang="en-US" altLang="zh-CN" sz="2000" dirty="0"/>
              <a:t>The month-wise breakdown shows that bookings increase significantly between </a:t>
            </a:r>
            <a:r>
              <a:rPr lang="en-US" altLang="zh-CN" sz="2000" b="1" dirty="0"/>
              <a:t>May and October</a:t>
            </a:r>
            <a:r>
              <a:rPr lang="en-US" altLang="zh-CN" sz="2000" dirty="0"/>
              <a:t>, with </a:t>
            </a:r>
            <a:r>
              <a:rPr lang="en-US" altLang="zh-CN" sz="2000" b="1" dirty="0"/>
              <a:t>October having the highest volume (1,394 bookings)</a:t>
            </a:r>
            <a:r>
              <a:rPr lang="en-US" altLang="zh-CN" sz="2000" dirty="0"/>
              <a:t>.</a:t>
            </a:r>
          </a:p>
          <a:p>
            <a:pPr marL="0" indent="0">
              <a:buNone/>
            </a:pPr>
            <a:endParaRPr lang="en-CA" sz="20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AD62B11-A208-5F93-CD03-3F91C4DDC95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b="1">
                <a:solidFill>
                  <a:srgbClr val="1B06BA"/>
                </a:solidFill>
                <a:latin typeface="Aptos Display" panose="02110004020202020204"/>
              </a:rPr>
              <a:t>EDA – Univariate Analysis:</a:t>
            </a:r>
            <a:br>
              <a:rPr lang="en-CA" b="1">
                <a:solidFill>
                  <a:srgbClr val="1B06BA"/>
                </a:solidFill>
                <a:latin typeface="Aptos Display" panose="02110004020202020204"/>
              </a:rPr>
            </a:br>
            <a:r>
              <a:rPr lang="en-US" sz="2200" b="1">
                <a:solidFill>
                  <a:srgbClr val="1B06BA"/>
                </a:solidFill>
                <a:latin typeface="Aptos Display" panose="02110004020202020204"/>
              </a:rPr>
              <a:t>S</a:t>
            </a:r>
            <a:r>
              <a:rPr lang="en-US" altLang="zh-CN" sz="2200" b="1">
                <a:solidFill>
                  <a:srgbClr val="1B06BA"/>
                </a:solidFill>
                <a:latin typeface="Aptos Display" panose="02110004020202020204"/>
              </a:rPr>
              <a:t>trategies to effectively manage and accommodate the increased demand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9161C2-448A-A7FF-4703-EE85535F2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705078"/>
            <a:ext cx="8177681" cy="459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76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43C4-9B3D-C78B-72D3-B2F9DDDE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2F09-412C-989D-E4B0-35F8F36B6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702" y="1402289"/>
            <a:ext cx="10863697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To manage and accommodate the increased demand efficiently, the hotel can consider:</a:t>
            </a:r>
          </a:p>
          <a:p>
            <a:pPr marL="457200" indent="-457200">
              <a:buAutoNum type="arabicPeriod"/>
            </a:pPr>
            <a:r>
              <a:rPr lang="en-US" altLang="zh-CN" sz="2000" b="1" dirty="0"/>
              <a:t>Staff Scheduling</a:t>
            </a:r>
            <a:r>
              <a:rPr lang="en-US" altLang="zh-CN" sz="2000" dirty="0"/>
              <a:t>: Increase staffing during high-demand periods (May to October), especially for front desk and housekeeping.</a:t>
            </a:r>
          </a:p>
          <a:p>
            <a:pPr marL="457200" indent="-457200">
              <a:buAutoNum type="arabicPeriod"/>
            </a:pPr>
            <a:endParaRPr lang="en-US" altLang="zh-CN" sz="2000" b="1" dirty="0"/>
          </a:p>
          <a:p>
            <a:pPr marL="457200" indent="-457200">
              <a:buAutoNum type="arabicPeriod"/>
            </a:pPr>
            <a:r>
              <a:rPr lang="en-US" altLang="zh-CN" sz="2000" b="1" dirty="0"/>
              <a:t>Revenue Management</a:t>
            </a:r>
            <a:r>
              <a:rPr lang="en-US" altLang="zh-CN" sz="2000" dirty="0"/>
              <a:t>: Implement dynamic pricing during peak months to maximize profit and control overbooking risk.</a:t>
            </a:r>
            <a:endParaRPr lang="en-US" altLang="zh-CN" sz="2000" b="1" dirty="0"/>
          </a:p>
          <a:p>
            <a:pPr marL="457200" indent="-457200">
              <a:buAutoNum type="arabicPeriod"/>
            </a:pPr>
            <a:endParaRPr lang="en-US" altLang="zh-CN" sz="2000" b="1" dirty="0"/>
          </a:p>
          <a:p>
            <a:pPr marL="457200" indent="-457200">
              <a:buAutoNum type="arabicPeriod"/>
            </a:pPr>
            <a:r>
              <a:rPr lang="en-US" altLang="zh-CN" sz="2000" b="1" dirty="0"/>
              <a:t>Promotions in Low Season</a:t>
            </a:r>
            <a:r>
              <a:rPr lang="en-US" altLang="zh-CN" sz="2000" dirty="0"/>
              <a:t>: Launch targeted marketing for low-demand months (e.g., January–March) to balance occupancy, including meal plans or room services, and simply discount.</a:t>
            </a:r>
            <a:endParaRPr lang="en-US" altLang="zh-CN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133CBA-015B-5C40-B08D-0C65D972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S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trategies to effectively manage and accommodate the increased demand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26927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904B-5EC8-ABD4-2BAE-E49C7608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</a:t>
            </a:r>
            <a:r>
              <a:rPr lang="en-US" altLang="zh-CN" sz="2200" b="1" dirty="0" err="1">
                <a:solidFill>
                  <a:srgbClr val="1B06BA"/>
                </a:solidFill>
                <a:latin typeface="Aptos Display" panose="02110004020202020204"/>
              </a:rPr>
              <a:t>ercentage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 of bookings made online versus offline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pic>
        <p:nvPicPr>
          <p:cNvPr id="11" name="Picture 10" descr="A blue pie chart with a number of percentages&#10;&#10;AI-generated content may be incorrect.">
            <a:extLst>
              <a:ext uri="{FF2B5EF4-FFF2-40B4-BE49-F238E27FC236}">
                <a16:creationId xmlns:a16="http://schemas.microsoft.com/office/drawing/2014/main" id="{02F67A16-7047-1F92-CCDE-C6238BA40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758" y="2040467"/>
            <a:ext cx="8634434" cy="449087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ABABBB-23BD-14DD-7141-27526BCD7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70" y="1605489"/>
            <a:ext cx="3844830" cy="51170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Distribution of Booking Channels</a:t>
            </a:r>
            <a:r>
              <a:rPr lang="en-CA" altLang="zh-CN" b="1" dirty="0"/>
              <a:t>:</a:t>
            </a:r>
          </a:p>
          <a:p>
            <a:pPr marL="0" indent="0">
              <a:buNone/>
            </a:pPr>
            <a:r>
              <a:rPr lang="en-US" altLang="zh-CN" sz="2000" dirty="0"/>
              <a:t>The pie chart shows that the majority of bookings (63.93%) were made through </a:t>
            </a:r>
            <a:r>
              <a:rPr lang="en-US" altLang="zh-CN" sz="2000" b="1" dirty="0"/>
              <a:t>online channels</a:t>
            </a:r>
            <a:r>
              <a:rPr lang="en-US" altLang="zh-CN" sz="2000" dirty="0"/>
              <a:t>, while </a:t>
            </a:r>
            <a:r>
              <a:rPr lang="en-US" altLang="zh-CN" sz="2000" b="1" dirty="0"/>
              <a:t>offline channels</a:t>
            </a:r>
            <a:r>
              <a:rPr lang="en-US" altLang="zh-CN" sz="2000" dirty="0"/>
              <a:t> accounted for 29.06%.</a:t>
            </a:r>
            <a:br>
              <a:rPr lang="en-US" altLang="zh-CN" sz="2000" dirty="0"/>
            </a:br>
            <a:r>
              <a:rPr lang="en-US" altLang="zh-CN" sz="2000" dirty="0"/>
              <a:t>Other segments such as </a:t>
            </a:r>
            <a:r>
              <a:rPr lang="en-US" altLang="zh-CN" sz="2000" b="1" dirty="0"/>
              <a:t>Corporate (5.7%)</a:t>
            </a:r>
            <a:r>
              <a:rPr lang="en-US" altLang="zh-CN" sz="2000" dirty="0"/>
              <a:t>, </a:t>
            </a:r>
            <a:r>
              <a:rPr lang="en-US" altLang="zh-CN" sz="2000" b="1" dirty="0"/>
              <a:t>Complementary</a:t>
            </a:r>
            <a:r>
              <a:rPr lang="en-US" altLang="zh-CN" sz="2000" dirty="0"/>
              <a:t>, and </a:t>
            </a:r>
            <a:r>
              <a:rPr lang="en-US" altLang="zh-CN" sz="2000" b="1" dirty="0"/>
              <a:t>Aviation</a:t>
            </a:r>
            <a:r>
              <a:rPr lang="en-US" altLang="zh-CN" sz="2000" dirty="0"/>
              <a:t> bookings contributed only marginally.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This indicates a heavy reliance on digital booking platforms, which could have implications for marketing strategies, partnership decisions, and commission management.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021389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0C03-B185-37CB-1592-481E3481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87620-8B93-392A-BD96-2472CD8C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CA" sz="2200" b="1" dirty="0">
                <a:solidFill>
                  <a:srgbClr val="1B06BA"/>
                </a:solidFill>
                <a:latin typeface="Aptos Display" panose="02110004020202020204"/>
              </a:rPr>
              <a:t>Percentage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 of bookings made online versus offline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183A583-7AF3-917F-215F-338FF8A3F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593845"/>
            <a:ext cx="3971830" cy="52525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3000" b="1" dirty="0"/>
              <a:t>Monthly Booking Trend by Channel</a:t>
            </a:r>
            <a:r>
              <a:rPr lang="en-CA" altLang="zh-CN" sz="3000" b="1" dirty="0"/>
              <a:t>:</a:t>
            </a:r>
          </a:p>
          <a:p>
            <a:pPr marL="0" indent="0">
              <a:buNone/>
            </a:pPr>
            <a:r>
              <a:rPr lang="en-US" altLang="zh-CN" sz="2200" dirty="0"/>
              <a:t>The monthly trend analysis shows that </a:t>
            </a:r>
            <a:r>
              <a:rPr lang="en-US" altLang="zh-CN" sz="2200" b="1" dirty="0"/>
              <a:t>online bookings dominate consistently throughout the year</a:t>
            </a:r>
            <a:r>
              <a:rPr lang="en-US" altLang="zh-CN" sz="2200" dirty="0"/>
              <a:t>, especially during high-demand months (July to October).</a:t>
            </a:r>
          </a:p>
          <a:p>
            <a:pPr marL="0" indent="0">
              <a:buNone/>
            </a:pPr>
            <a:br>
              <a:rPr lang="en-US" altLang="zh-CN" sz="2200" dirty="0"/>
            </a:br>
            <a:r>
              <a:rPr lang="en-US" altLang="zh-CN" sz="2200" dirty="0"/>
              <a:t>Offline bookings remain relatively stable, while corporate bookings show a slight increase in late months (October–December), possibly due to business travel.</a:t>
            </a:r>
          </a:p>
          <a:p>
            <a:pPr marL="0" indent="0">
              <a:buNone/>
            </a:pPr>
            <a:br>
              <a:rPr lang="en-US" altLang="zh-CN" sz="2200" dirty="0"/>
            </a:br>
            <a:r>
              <a:rPr lang="en-US" altLang="zh-CN" sz="2200" dirty="0"/>
              <a:t>Notably, online booking volume fluctuates more widely, suggesting it is more responsive to seasonal demand or marketing activity</a:t>
            </a:r>
            <a:r>
              <a:rPr lang="en-US" altLang="zh-CN" sz="2400" dirty="0"/>
              <a:t>.</a:t>
            </a:r>
            <a:endParaRPr lang="en-CA" altLang="zh-CN" sz="2400" b="1" dirty="0"/>
          </a:p>
        </p:txBody>
      </p:sp>
      <p:pic>
        <p:nvPicPr>
          <p:cNvPr id="4" name="Picture 3" descr="A graph of blue and red lines&#10;&#10;AI-generated content may be incorrect.">
            <a:extLst>
              <a:ext uri="{FF2B5EF4-FFF2-40B4-BE49-F238E27FC236}">
                <a16:creationId xmlns:a16="http://schemas.microsoft.com/office/drawing/2014/main" id="{A299D054-F20A-AEA7-0D95-E20F54548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631" y="1605489"/>
            <a:ext cx="8324369" cy="443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42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414A6-863C-F594-E244-5FDF1E62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CD78-CC7C-3FCA-81FC-05368903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CA" sz="2200" b="1" dirty="0">
                <a:solidFill>
                  <a:srgbClr val="1B06BA"/>
                </a:solidFill>
                <a:latin typeface="Aptos Display" panose="02110004020202020204"/>
              </a:rPr>
              <a:t>Percentage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 of bookings made online versus offline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733934-42C8-7509-FDB0-FDE809D3A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702" y="1402289"/>
            <a:ext cx="10863697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The hotel can consider the following strategies:</a:t>
            </a:r>
          </a:p>
          <a:p>
            <a:pPr marL="457200" indent="-457200">
              <a:buAutoNum type="arabicPeriod"/>
            </a:pPr>
            <a:r>
              <a:rPr lang="en-US" altLang="zh-CN" sz="2000" dirty="0"/>
              <a:t>Strengthen the hotel’s </a:t>
            </a:r>
            <a:r>
              <a:rPr lang="en-US" altLang="zh-CN" sz="2000" b="1" dirty="0"/>
              <a:t>online booking infrastructure</a:t>
            </a:r>
            <a:r>
              <a:rPr lang="en-US" altLang="zh-CN" sz="2000" dirty="0"/>
              <a:t> (website, mobile, OTA partnerships) to further support the dominant customer behavior..</a:t>
            </a:r>
          </a:p>
          <a:p>
            <a:pPr marL="457200" indent="-457200">
              <a:buAutoNum type="arabicPeriod"/>
            </a:pPr>
            <a:endParaRPr lang="en-US" altLang="zh-CN" sz="2000" b="1" dirty="0"/>
          </a:p>
          <a:p>
            <a:pPr marL="457200" indent="-457200">
              <a:buAutoNum type="arabicPeriod"/>
            </a:pPr>
            <a:r>
              <a:rPr lang="en-US" altLang="zh-CN" sz="2000" dirty="0"/>
              <a:t>Introduce </a:t>
            </a:r>
            <a:r>
              <a:rPr lang="en-US" altLang="zh-CN" sz="2000" b="1" dirty="0"/>
              <a:t>targeted promotions</a:t>
            </a:r>
            <a:r>
              <a:rPr lang="en-US" altLang="zh-CN" sz="2000" dirty="0"/>
              <a:t> during low-demand months to boost both online and offline bookings.</a:t>
            </a:r>
            <a:endParaRPr lang="en-US" altLang="zh-CN" sz="2000" b="1" dirty="0"/>
          </a:p>
          <a:p>
            <a:pPr marL="457200" indent="-457200">
              <a:buAutoNum type="arabicPeriod"/>
            </a:pPr>
            <a:endParaRPr lang="en-US" altLang="zh-CN" sz="2000" b="1" dirty="0"/>
          </a:p>
          <a:p>
            <a:pPr marL="457200" indent="-457200">
              <a:buAutoNum type="arabicPeriod"/>
            </a:pPr>
            <a:r>
              <a:rPr lang="en-US" altLang="zh-CN" sz="2000" dirty="0"/>
              <a:t>Consider </a:t>
            </a:r>
            <a:r>
              <a:rPr lang="en-US" altLang="zh-CN" sz="2000" b="1" dirty="0"/>
              <a:t>diversifying marketing efforts</a:t>
            </a:r>
            <a:r>
              <a:rPr lang="en-US" altLang="zh-CN" sz="2000" dirty="0"/>
              <a:t> to grow direct corporate and offline bookings, which may be more stable and less prone to cancellations.</a:t>
            </a:r>
          </a:p>
          <a:p>
            <a:pPr marL="457200" indent="-457200">
              <a:buAutoNum type="arabicPeriod"/>
            </a:pPr>
            <a:endParaRPr lang="en-US" altLang="zh-CN" sz="2000" b="1" dirty="0"/>
          </a:p>
          <a:p>
            <a:pPr marL="457200" indent="-457200">
              <a:buAutoNum type="arabicPeriod"/>
            </a:pPr>
            <a:r>
              <a:rPr lang="en-US" altLang="zh-CN" sz="2000" dirty="0"/>
              <a:t>Monitor </a:t>
            </a:r>
            <a:r>
              <a:rPr lang="en-US" altLang="zh-CN" sz="2000" b="1" dirty="0"/>
              <a:t>cancellation rates by channel</a:t>
            </a:r>
            <a:r>
              <a:rPr lang="en-US" altLang="zh-CN" sz="2000" dirty="0"/>
              <a:t> in further analysis to assess reliability.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603363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89B8-6F16-0E70-2C7C-6F693EAF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A56F3-FF94-FC85-7442-E440C727D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69" y="1605489"/>
            <a:ext cx="4369763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altLang="zh-CN" b="1" dirty="0"/>
              <a:t>Overall Booking Cancellation Rate:</a:t>
            </a:r>
          </a:p>
          <a:p>
            <a:pPr marL="0" indent="0">
              <a:buNone/>
            </a:pPr>
            <a:r>
              <a:rPr lang="en-US" altLang="zh-CN" sz="2000" dirty="0"/>
              <a:t>The overall cancellation rate is </a:t>
            </a:r>
            <a:r>
              <a:rPr lang="en-US" altLang="zh-CN" sz="2000" b="1" dirty="0"/>
              <a:t>32.76%</a:t>
            </a:r>
            <a:r>
              <a:rPr lang="en-US" altLang="zh-CN" sz="2000" dirty="0"/>
              <a:t>, meaning nearly 1 in 3 bookings were canceled.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This is a </a:t>
            </a:r>
            <a:r>
              <a:rPr lang="en-US" altLang="zh-CN" sz="2000" b="1" dirty="0"/>
              <a:t>significant operational and financial concern</a:t>
            </a:r>
            <a:r>
              <a:rPr lang="en-US" altLang="zh-CN" sz="2000" dirty="0"/>
              <a:t>, especially when cancellations occur close to the arrival date, making it difficult for the hotel to resell the rooms.</a:t>
            </a:r>
            <a:endParaRPr lang="en-CA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B1B5A-28EF-5EC7-AF1D-9F924706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CA" sz="2200" b="1" dirty="0">
                <a:solidFill>
                  <a:srgbClr val="1B06BA"/>
                </a:solidFill>
                <a:latin typeface="Aptos Display" panose="02110004020202020204"/>
              </a:rPr>
              <a:t>Percentage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 of bookings are cancelled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pic>
        <p:nvPicPr>
          <p:cNvPr id="5" name="Picture 4" descr="A blue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9DD585C5-D5B2-9926-19CD-7D7B5D732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203" y="1178613"/>
            <a:ext cx="6535062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60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648E-3D60-ACEF-E7D8-BE67B01C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3F390-CD1C-D4C7-9533-2997B9697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70" y="1605489"/>
            <a:ext cx="3844830" cy="51170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altLang="zh-CN" b="1" dirty="0"/>
              <a:t>Monthly Bookings with Cancellations:</a:t>
            </a:r>
          </a:p>
          <a:p>
            <a:pPr marL="0" indent="0">
              <a:buNone/>
            </a:pPr>
            <a:r>
              <a:rPr lang="en-US" altLang="zh-CN" sz="2000" dirty="0"/>
              <a:t>The month-wise breakdown shows that bookings increase significantly between </a:t>
            </a:r>
            <a:r>
              <a:rPr lang="en-US" altLang="zh-CN" sz="2000" b="1" dirty="0"/>
              <a:t>May and October</a:t>
            </a:r>
            <a:r>
              <a:rPr lang="en-US" altLang="zh-CN" sz="2000" dirty="0"/>
              <a:t>, with </a:t>
            </a:r>
            <a:r>
              <a:rPr lang="en-US" altLang="zh-CN" sz="2000" b="1" dirty="0"/>
              <a:t>October having the highest volume (1,394 bookings)</a:t>
            </a:r>
            <a:r>
              <a:rPr lang="en-US" altLang="zh-CN" sz="2000" dirty="0"/>
              <a:t>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Cancellations are also more frequent during these high-demand months, particularly in </a:t>
            </a:r>
            <a:r>
              <a:rPr lang="en-US" altLang="zh-CN" sz="2000" b="1" dirty="0"/>
              <a:t>August, September, and October</a:t>
            </a:r>
            <a:r>
              <a:rPr lang="en-US" altLang="zh-CN" sz="2000" dirty="0"/>
              <a:t>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This indicates not only increased demand but also higher uncertainty in room occupancy during these periods.</a:t>
            </a:r>
            <a:endParaRPr lang="en-CA" sz="2000" dirty="0"/>
          </a:p>
        </p:txBody>
      </p:sp>
      <p:pic>
        <p:nvPicPr>
          <p:cNvPr id="9" name="Picture 8" descr="A graph of blue bars&#10;&#10;AI-generated content may be incorrect.">
            <a:extLst>
              <a:ext uri="{FF2B5EF4-FFF2-40B4-BE49-F238E27FC236}">
                <a16:creationId xmlns:a16="http://schemas.microsoft.com/office/drawing/2014/main" id="{32CD38EA-1387-773D-1CBA-1EF393C86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056" y="1690688"/>
            <a:ext cx="8130374" cy="45697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85E32D-9883-E920-DAC6-03C4ACCA7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CA" sz="2200" b="1" dirty="0">
                <a:solidFill>
                  <a:srgbClr val="1B06BA"/>
                </a:solidFill>
                <a:latin typeface="Aptos Display" panose="02110004020202020204"/>
              </a:rPr>
              <a:t>Percentage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 of bookings are cancelled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53727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66A6-B1CC-635F-64F2-FA40E2A9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DA2AD0-749D-16A8-2B1D-BDA6FADCC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702" y="1402289"/>
            <a:ext cx="10863697" cy="51170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/>
              <a:t>The overall cancellation rate is 32.76%, which indicates a major operational concern.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Cancellation volumes rise sharply during the peak months of </a:t>
            </a:r>
            <a:r>
              <a:rPr lang="en-US" altLang="zh-CN" sz="2000" b="1" dirty="0"/>
              <a:t>July to October</a:t>
            </a:r>
            <a:r>
              <a:rPr lang="en-US" altLang="zh-CN" sz="2000" dirty="0"/>
              <a:t>, making this issue even more critical during high-demand periods.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To mitigate the impact of cancellations, the hotel should consider: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en-US" altLang="zh-CN" sz="2000" dirty="0"/>
              <a:t>Implementing stricter cancellation policies, especially for bookings made during peak seasons.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/>
              <a:t>Encouraging non-refundable bookings through price incentives.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/>
              <a:t>Introducing partial deposits or advance payments.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/>
              <a:t>Using data analytics to predict and flag potential cancellations in advance.</a:t>
            </a:r>
          </a:p>
          <a:p>
            <a:pPr marL="0" indent="0">
              <a:buNone/>
            </a:pPr>
            <a:endParaRPr lang="en-US" altLang="zh-CN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B0F8BE-87E2-B908-65A5-5F7F2701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CA" sz="2200" b="1" dirty="0">
                <a:solidFill>
                  <a:srgbClr val="1B06BA"/>
                </a:solidFill>
                <a:latin typeface="Aptos Display" panose="02110004020202020204"/>
              </a:rPr>
              <a:t>Percentage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 of bookings are cancelled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68400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7134-8EFB-05DF-B3E9-A673F70B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85832-DF72-FF7E-D28C-1A17E6FDA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69" y="1605489"/>
            <a:ext cx="4369763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altLang="zh-CN" b="1" dirty="0"/>
              <a:t>Repeated Guest Proportion:</a:t>
            </a:r>
          </a:p>
          <a:p>
            <a:pPr marL="0" indent="0">
              <a:buNone/>
            </a:pPr>
            <a:r>
              <a:rPr lang="en-US" altLang="zh-CN" sz="2000" dirty="0"/>
              <a:t>The analysis reveals that </a:t>
            </a:r>
            <a:r>
              <a:rPr lang="en-US" altLang="zh-CN" sz="2000" b="1" dirty="0"/>
              <a:t>only 2.65%</a:t>
            </a:r>
            <a:r>
              <a:rPr lang="en-US" altLang="zh-CN" sz="2000" dirty="0"/>
              <a:t> of the hotel's bookings come from repeated guests, while </a:t>
            </a:r>
            <a:r>
              <a:rPr lang="en-US" altLang="zh-CN" sz="2000" b="1" dirty="0"/>
              <a:t>97.35%</a:t>
            </a:r>
            <a:r>
              <a:rPr lang="en-US" altLang="zh-CN" sz="2000" dirty="0"/>
              <a:t> are new customers.</a:t>
            </a:r>
            <a:br>
              <a:rPr lang="en-US" altLang="zh-CN" sz="2000" dirty="0"/>
            </a:br>
            <a:r>
              <a:rPr lang="en-US" altLang="zh-CN" sz="2000" dirty="0"/>
              <a:t>This suggests a </a:t>
            </a:r>
            <a:r>
              <a:rPr lang="en-US" altLang="zh-CN" sz="2000" b="1" dirty="0"/>
              <a:t>low customer retention rate</a:t>
            </a:r>
            <a:r>
              <a:rPr lang="en-US" altLang="zh-CN" sz="2000" dirty="0"/>
              <a:t>, indicating that the hotel may not be building </a:t>
            </a:r>
            <a:r>
              <a:rPr lang="en-US" altLang="zh-CN" sz="2000" b="1" dirty="0"/>
              <a:t>long-term loyalty or brand attachment.</a:t>
            </a:r>
            <a:endParaRPr lang="en-CA" sz="20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73009-C7EC-91A8-A49E-D5DBD9DFB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CA" sz="2200" b="1" dirty="0">
                <a:solidFill>
                  <a:srgbClr val="1B06BA"/>
                </a:solidFill>
                <a:latin typeface="Aptos Display" panose="02110004020202020204"/>
              </a:rPr>
              <a:t>Repeated Guests</a:t>
            </a:r>
          </a:p>
        </p:txBody>
      </p:sp>
      <p:pic>
        <p:nvPicPr>
          <p:cNvPr id="6" name="Picture 5" descr="A blue circle with numbers and a triangle&#10;&#10;AI-generated content may be incorrect.">
            <a:extLst>
              <a:ext uri="{FF2B5EF4-FFF2-40B4-BE49-F238E27FC236}">
                <a16:creationId xmlns:a16="http://schemas.microsoft.com/office/drawing/2014/main" id="{CCAC989E-7883-F073-7D21-2886F8061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705" y="922525"/>
            <a:ext cx="4791361" cy="570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0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82390-661B-500E-BD76-7DF0D006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76D26-F7EE-AB12-CE94-C561A431C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69" y="1605489"/>
            <a:ext cx="4369763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Cancellation Rate by Guest Type</a:t>
            </a:r>
            <a:r>
              <a:rPr lang="en-CA" altLang="zh-CN" b="1" dirty="0"/>
              <a:t>:</a:t>
            </a:r>
          </a:p>
          <a:p>
            <a:pPr marL="0" indent="0">
              <a:buNone/>
            </a:pPr>
            <a:r>
              <a:rPr lang="en-US" altLang="zh-CN" sz="2000" dirty="0"/>
              <a:t>Among repeated guests, the cancellation rate is extremely low (</a:t>
            </a:r>
            <a:r>
              <a:rPr lang="en-US" altLang="zh-CN" sz="2000" b="1" dirty="0"/>
              <a:t>1.25%</a:t>
            </a:r>
            <a:r>
              <a:rPr lang="en-US" altLang="zh-CN" sz="2000" dirty="0"/>
              <a:t>), while new customers cancel at a much higher rate (</a:t>
            </a:r>
            <a:r>
              <a:rPr lang="en-US" altLang="zh-CN" sz="2000" b="1" dirty="0"/>
              <a:t>33.62%</a:t>
            </a:r>
            <a:r>
              <a:rPr lang="en-US" altLang="zh-CN" sz="2000" dirty="0"/>
              <a:t>).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This confirms that </a:t>
            </a:r>
            <a:r>
              <a:rPr lang="en-US" altLang="zh-CN" sz="2000" b="1" dirty="0"/>
              <a:t>repeated guests are significantly more reliable</a:t>
            </a:r>
            <a:r>
              <a:rPr lang="en-US" altLang="zh-CN" sz="2000" dirty="0"/>
              <a:t>, and efforts to retain customers can directly reduce the cancellation rate and improve revenue stability.</a:t>
            </a:r>
            <a:endParaRPr lang="en-CA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12BA9-8FED-892F-18DD-DFABC965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CA" sz="2200" b="1" dirty="0">
                <a:solidFill>
                  <a:srgbClr val="1B06BA"/>
                </a:solidFill>
                <a:latin typeface="Aptos Display" panose="02110004020202020204"/>
              </a:rPr>
              <a:t>Repeated Guests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C9560EE-E4AD-A3D9-162E-CC5A9E4A7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32" y="1168401"/>
            <a:ext cx="7515501" cy="521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39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89CE3-79AF-B54C-9888-DDA17A99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06F8-A95C-388D-CB9F-3F0B66FB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EDA – Univariate Analysis:</a:t>
            </a:r>
            <a:b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1B06BA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lang="en-CA" sz="2200" b="1" dirty="0">
                <a:solidFill>
                  <a:srgbClr val="1B06BA"/>
                </a:solidFill>
                <a:latin typeface="Aptos Display" panose="02110004020202020204"/>
              </a:rPr>
              <a:t>Repeated Guests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C23457-E51B-9E44-B450-46A37666C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702" y="1402289"/>
            <a:ext cx="10863697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Suggested Strategies to Improve Guest Loyalty: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en-US" altLang="zh-CN" sz="2000" b="1" dirty="0"/>
              <a:t>Launch a loyalty program</a:t>
            </a:r>
            <a:r>
              <a:rPr lang="en-US" altLang="zh-CN" sz="2000" dirty="0"/>
              <a:t>: Offer points, discounts, or upgrades for repeat bookings.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b="1" dirty="0"/>
              <a:t>Send post-stay emails and personalized offers</a:t>
            </a:r>
            <a:r>
              <a:rPr lang="en-US" altLang="zh-CN" sz="2000" dirty="0"/>
              <a:t> to encourage return visits.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b="1" dirty="0"/>
              <a:t>Reward low-risk customers, </a:t>
            </a:r>
            <a:r>
              <a:rPr lang="en-US" altLang="zh-CN" sz="2000" dirty="0"/>
              <a:t>such as those with no past cancellations, with more flexible booking options.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zh-CN" sz="2000" b="1" dirty="0"/>
              <a:t>Track satisfaction scores of repeated guests</a:t>
            </a:r>
            <a:r>
              <a:rPr lang="en-US" altLang="zh-CN" sz="2000" dirty="0"/>
              <a:t> to understand retention drivers.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altLang="zh-CN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zh-CN" sz="2000" b="1" dirty="0"/>
              <a:t>Provide incentives for direct bookings</a:t>
            </a:r>
            <a:r>
              <a:rPr lang="en-US" altLang="zh-CN" sz="2000" dirty="0"/>
              <a:t>, such as free breakfast or late check-out.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672886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59706-8758-9A30-76E2-DB21E556E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407E33-CA25-8238-D213-05E75BBDE5F8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EDA – Univariate Analysis: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O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ptimize the revenue management strategies considering the significant price variations 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29EEB44-3A86-6D40-A5F7-856D3FAA7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69" y="1605489"/>
            <a:ext cx="4369763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Average Room Price by Market Segment</a:t>
            </a:r>
            <a:r>
              <a:rPr lang="en-CA" altLang="zh-CN" b="1" dirty="0"/>
              <a:t>:</a:t>
            </a:r>
          </a:p>
          <a:p>
            <a:pPr marL="0" indent="0">
              <a:buNone/>
            </a:pPr>
            <a:r>
              <a:rPr lang="en-US" altLang="zh-CN" sz="2000" dirty="0"/>
              <a:t>The </a:t>
            </a:r>
            <a:r>
              <a:rPr lang="en-US" altLang="zh-CN" sz="2000" b="1" dirty="0"/>
              <a:t>Online</a:t>
            </a:r>
            <a:r>
              <a:rPr lang="en-US" altLang="zh-CN" sz="2000" dirty="0"/>
              <a:t> segment shows the highest average room price at </a:t>
            </a:r>
            <a:r>
              <a:rPr lang="en-US" altLang="zh-CN" sz="2000" b="1" dirty="0"/>
              <a:t>$112.18</a:t>
            </a:r>
            <a:r>
              <a:rPr lang="en-US" altLang="zh-CN" sz="2000" dirty="0"/>
              <a:t>, followed by </a:t>
            </a:r>
            <a:r>
              <a:rPr lang="en-US" altLang="zh-CN" sz="2000" b="1" dirty="0"/>
              <a:t>Aviation ($101.88)</a:t>
            </a:r>
            <a:r>
              <a:rPr lang="en-US" altLang="zh-CN" sz="2000" dirty="0"/>
              <a:t> and </a:t>
            </a:r>
            <a:r>
              <a:rPr lang="en-US" altLang="zh-CN" sz="2000" b="1" dirty="0"/>
              <a:t>Offline ($91.48)</a:t>
            </a:r>
            <a:r>
              <a:rPr lang="en-US" altLang="zh-CN" sz="2000" dirty="0"/>
              <a:t>.</a:t>
            </a:r>
          </a:p>
          <a:p>
            <a:pPr marL="0" indent="0">
              <a:buNone/>
            </a:pPr>
            <a:br>
              <a:rPr lang="en-US" altLang="zh-CN" sz="2000" dirty="0"/>
            </a:br>
            <a:r>
              <a:rPr lang="en-US" altLang="zh-CN" sz="2000" dirty="0"/>
              <a:t>The </a:t>
            </a:r>
            <a:r>
              <a:rPr lang="en-US" altLang="zh-CN" sz="2000" b="1" dirty="0"/>
              <a:t>Corporate</a:t>
            </a:r>
            <a:r>
              <a:rPr lang="en-US" altLang="zh-CN" sz="2000" dirty="0"/>
              <a:t> segment is lower than expected at </a:t>
            </a:r>
            <a:r>
              <a:rPr lang="en-US" altLang="zh-CN" sz="2000" b="1" dirty="0"/>
              <a:t>$81.67</a:t>
            </a:r>
            <a:r>
              <a:rPr lang="en-US" altLang="zh-CN" sz="2000" dirty="0"/>
              <a:t>, and </a:t>
            </a:r>
            <a:r>
              <a:rPr lang="en-US" altLang="zh-CN" sz="2000" b="1" dirty="0"/>
              <a:t>Complementary</a:t>
            </a:r>
            <a:r>
              <a:rPr lang="en-US" altLang="zh-CN" sz="2000" dirty="0"/>
              <a:t> is almost negligible (</a:t>
            </a:r>
            <a:r>
              <a:rPr lang="en-US" altLang="zh-CN" sz="2000" b="1" dirty="0"/>
              <a:t>$1.62</a:t>
            </a:r>
            <a:r>
              <a:rPr lang="en-US" altLang="zh-CN" sz="2000" dirty="0"/>
              <a:t>), likely due to free or promotional bookings.</a:t>
            </a:r>
            <a:endParaRPr lang="en-CA" sz="2000" b="1" dirty="0"/>
          </a:p>
        </p:txBody>
      </p:sp>
      <p:pic>
        <p:nvPicPr>
          <p:cNvPr id="14" name="Picture 1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2BA4A1A-0C86-C47E-3AAD-B92F72C9E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419" y="1372207"/>
            <a:ext cx="7680012" cy="432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48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0EC9-E413-87BB-CD90-846C75BA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ED3643A-C328-6AB4-F78E-203F9505AD13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EDA – Univariate Analysis: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O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ptimize the revenue management strategies considering the significant price variations 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982204-0E86-FE52-F143-377FE3455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0151" y="1326089"/>
            <a:ext cx="10863697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Summary:</a:t>
            </a:r>
          </a:p>
          <a:p>
            <a:r>
              <a:rPr lang="en-US" altLang="zh-CN" sz="2000" dirty="0"/>
              <a:t>The bar chart comparing average room prices by market segment reveals that </a:t>
            </a:r>
            <a:r>
              <a:rPr lang="en-US" altLang="zh-CN" sz="2000" b="1" dirty="0"/>
              <a:t>Corporate and Online Direct channels</a:t>
            </a:r>
            <a:r>
              <a:rPr lang="en-US" altLang="zh-CN" sz="2000" dirty="0"/>
              <a:t> have the highest average prices, while </a:t>
            </a:r>
            <a:r>
              <a:rPr lang="en-US" altLang="zh-CN" sz="2000" b="1" dirty="0"/>
              <a:t>Offline, Complementary, and Aviation segments</a:t>
            </a:r>
            <a:r>
              <a:rPr lang="en-US" altLang="zh-CN" sz="2000" dirty="0"/>
              <a:t> are associated with lower price points.</a:t>
            </a:r>
            <a:br>
              <a:rPr lang="en-US" altLang="zh-CN" sz="2000" dirty="0"/>
            </a:br>
            <a:r>
              <a:rPr lang="en-US" altLang="zh-CN" sz="2000" dirty="0"/>
              <a:t>This suggests that </a:t>
            </a:r>
            <a:r>
              <a:rPr lang="en-US" altLang="zh-CN" sz="2000" b="1" dirty="0"/>
              <a:t>revenue optimization efforts should prioritize high-yield channels</a:t>
            </a:r>
            <a:r>
              <a:rPr lang="en-US" altLang="zh-CN" sz="2000" dirty="0"/>
              <a:t>, while lower-value segments could be targeted with upsell offers or limited availability during peak seasons.</a:t>
            </a:r>
          </a:p>
          <a:p>
            <a:pPr marL="0" indent="0">
              <a:buNone/>
            </a:pPr>
            <a:r>
              <a:rPr lang="en-CA" altLang="zh-CN" b="1" dirty="0"/>
              <a:t>Recommendations</a:t>
            </a:r>
            <a:r>
              <a:rPr lang="en-US" altLang="zh-CN" b="1" dirty="0"/>
              <a:t>:</a:t>
            </a:r>
          </a:p>
          <a:p>
            <a:r>
              <a:rPr lang="en-US" altLang="zh-CN" sz="2000" dirty="0"/>
              <a:t>Allocate more rooms to </a:t>
            </a:r>
            <a:r>
              <a:rPr lang="en-US" altLang="zh-CN" sz="2000" b="1" dirty="0"/>
              <a:t>high-paying segments</a:t>
            </a:r>
            <a:r>
              <a:rPr lang="en-US" altLang="zh-CN" sz="2000" dirty="0"/>
              <a:t> (Corporate, Online Direct)</a:t>
            </a:r>
          </a:p>
          <a:p>
            <a:r>
              <a:rPr lang="en-US" altLang="zh-CN" sz="2000" b="1" dirty="0"/>
              <a:t>Restrict low-yield segments</a:t>
            </a:r>
            <a:r>
              <a:rPr lang="en-US" altLang="zh-CN" sz="2000" dirty="0"/>
              <a:t> during high-demand periods</a:t>
            </a:r>
          </a:p>
          <a:p>
            <a:r>
              <a:rPr lang="en-US" altLang="zh-CN" sz="2000" dirty="0"/>
              <a:t>Offer </a:t>
            </a:r>
            <a:r>
              <a:rPr lang="en-US" altLang="zh-CN" sz="2000" b="1" dirty="0"/>
              <a:t>value-added packages</a:t>
            </a:r>
            <a:r>
              <a:rPr lang="en-US" altLang="zh-CN" sz="2000" dirty="0"/>
              <a:t> to boost revenue from low-price segments</a:t>
            </a:r>
          </a:p>
          <a:p>
            <a:r>
              <a:rPr lang="en-US" altLang="zh-CN" sz="2000" dirty="0"/>
              <a:t>Re-evaluate </a:t>
            </a:r>
            <a:r>
              <a:rPr lang="en-US" altLang="zh-CN" sz="2000" b="1" dirty="0"/>
              <a:t>channel performance</a:t>
            </a:r>
            <a:r>
              <a:rPr lang="en-US" altLang="zh-CN" sz="2000" dirty="0"/>
              <a:t> in combination with cancellation rates</a:t>
            </a:r>
          </a:p>
          <a:p>
            <a:r>
              <a:rPr lang="en-US" altLang="zh-CN" sz="2000" dirty="0"/>
              <a:t>Consider </a:t>
            </a:r>
            <a:r>
              <a:rPr lang="en-US" altLang="zh-CN" sz="2000" b="1" dirty="0"/>
              <a:t>dynamic pricing</a:t>
            </a:r>
            <a:r>
              <a:rPr lang="en-US" altLang="zh-CN" sz="2000" dirty="0"/>
              <a:t> per segment based on demand patterns</a:t>
            </a:r>
          </a:p>
          <a:p>
            <a:pPr marL="0" indent="0">
              <a:buNone/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857363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98FD-F061-F4C5-45AA-190F2F4E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A8372F-6C0C-B325-7FFF-6B00F4A13C5F}"/>
              </a:ext>
            </a:extLst>
          </p:cNvPr>
          <p:cNvSpPr txBox="1">
            <a:spLocks/>
          </p:cNvSpPr>
          <p:nvPr/>
        </p:nvSpPr>
        <p:spPr>
          <a:xfrm>
            <a:off x="0" y="-110066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zh-CN" b="1" dirty="0">
                <a:solidFill>
                  <a:srgbClr val="1B06BA"/>
                </a:solidFill>
                <a:latin typeface="+mn-lt"/>
              </a:rPr>
              <a:t>Results EDA – Univariate Analysis</a:t>
            </a:r>
            <a:r>
              <a:rPr lang="en-CA" b="1" dirty="0">
                <a:solidFill>
                  <a:srgbClr val="1B06BA"/>
                </a:solidFill>
                <a:latin typeface="+mn-lt"/>
              </a:rPr>
              <a:t>:</a:t>
            </a:r>
            <a:endParaRPr lang="en-CA" sz="2200" b="1" dirty="0">
              <a:solidFill>
                <a:srgbClr val="1B06BA"/>
              </a:solidFill>
              <a:latin typeface="+mn-l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460511D-A4C8-2C8B-B445-5B53B5225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3151" y="846667"/>
            <a:ext cx="11684000" cy="601133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Summary:</a:t>
            </a:r>
          </a:p>
          <a:p>
            <a:pPr marL="0" indent="0">
              <a:buNone/>
            </a:pPr>
            <a:r>
              <a:rPr lang="en-CA" altLang="zh-CN" sz="1700" b="1" dirty="0"/>
              <a:t>Booking Trend</a:t>
            </a:r>
            <a:r>
              <a:rPr lang="en-CA" altLang="zh-CN" sz="1700" dirty="0"/>
              <a:t>:</a:t>
            </a:r>
          </a:p>
          <a:p>
            <a:r>
              <a:rPr lang="en-US" altLang="zh-CN" sz="1700" dirty="0"/>
              <a:t>Booking volume increases during peak seasons (July–October), indicating strong seasonal demand. However, this period also sees higher cancellation volumes.</a:t>
            </a:r>
          </a:p>
          <a:p>
            <a:pPr marL="0" indent="0">
              <a:buNone/>
            </a:pPr>
            <a:r>
              <a:rPr lang="en-CA" altLang="zh-CN" sz="1700" b="1" dirty="0"/>
              <a:t>Cancellation Rate</a:t>
            </a:r>
            <a:r>
              <a:rPr lang="en-CA" altLang="zh-CN" sz="1700" dirty="0"/>
              <a:t>:</a:t>
            </a:r>
          </a:p>
          <a:p>
            <a:r>
              <a:rPr lang="en-US" altLang="zh-CN" sz="1700" dirty="0"/>
              <a:t>The overall cancellation rate is high at </a:t>
            </a:r>
            <a:r>
              <a:rPr lang="en-US" altLang="zh-CN" sz="1700" b="1" dirty="0"/>
              <a:t>32.76%</a:t>
            </a:r>
            <a:r>
              <a:rPr lang="en-US" altLang="zh-CN" sz="1700" dirty="0"/>
              <a:t>, with a significant number of high-value bookings being canceled—particularly from online and offline segments.</a:t>
            </a:r>
            <a:endParaRPr lang="en-CA" altLang="zh-CN" sz="1700" dirty="0"/>
          </a:p>
          <a:p>
            <a:pPr marL="0" indent="0">
              <a:buNone/>
            </a:pPr>
            <a:r>
              <a:rPr lang="en-CA" altLang="zh-CN" sz="1700" b="1" dirty="0"/>
              <a:t>Guest Loyalty</a:t>
            </a:r>
            <a:r>
              <a:rPr lang="en-CA" altLang="zh-CN" sz="1700" dirty="0"/>
              <a:t>:</a:t>
            </a:r>
          </a:p>
          <a:p>
            <a:r>
              <a:rPr lang="en-US" altLang="zh-CN" sz="1700" dirty="0"/>
              <a:t>Only </a:t>
            </a:r>
            <a:r>
              <a:rPr lang="en-US" altLang="zh-CN" sz="1700" b="1" dirty="0"/>
              <a:t>2.65%</a:t>
            </a:r>
            <a:r>
              <a:rPr lang="en-US" altLang="zh-CN" sz="1700" dirty="0"/>
              <a:t> of bookings are from repeated guests. However, they have an extremely low cancellation rate (</a:t>
            </a:r>
            <a:r>
              <a:rPr lang="en-US" altLang="zh-CN" sz="1700" b="1" dirty="0"/>
              <a:t>1.25%</a:t>
            </a:r>
            <a:r>
              <a:rPr lang="en-US" altLang="zh-CN" sz="1700" dirty="0"/>
              <a:t>), making them highly reliable customers.</a:t>
            </a:r>
            <a:endParaRPr lang="en-CA" altLang="zh-CN" sz="1700" dirty="0"/>
          </a:p>
          <a:p>
            <a:pPr marL="0" indent="0">
              <a:buNone/>
            </a:pPr>
            <a:r>
              <a:rPr lang="en-CA" altLang="zh-CN" sz="1700" b="1" dirty="0"/>
              <a:t>Booking Channels</a:t>
            </a:r>
            <a:r>
              <a:rPr lang="en-CA" altLang="zh-CN" sz="1700" dirty="0"/>
              <a:t>:</a:t>
            </a:r>
          </a:p>
          <a:p>
            <a:r>
              <a:rPr lang="en-US" altLang="zh-CN" sz="1700" dirty="0"/>
              <a:t>The majority of bookings come from </a:t>
            </a:r>
            <a:r>
              <a:rPr lang="en-US" altLang="zh-CN" sz="1700" b="1" dirty="0"/>
              <a:t>online sources (63.93%)</a:t>
            </a:r>
            <a:r>
              <a:rPr lang="en-US" altLang="zh-CN" sz="1700" dirty="0"/>
              <a:t>, which also exhibit the highest cancellation tendencies. Offline bookings show similar patterns.</a:t>
            </a:r>
            <a:endParaRPr lang="en-CA" altLang="zh-CN" sz="1700" dirty="0"/>
          </a:p>
          <a:p>
            <a:pPr marL="0" indent="0">
              <a:buNone/>
            </a:pPr>
            <a:r>
              <a:rPr lang="en-CA" altLang="zh-CN" sz="1700" b="1" dirty="0"/>
              <a:t>Revenue by Segment</a:t>
            </a:r>
            <a:r>
              <a:rPr lang="en-CA" altLang="zh-CN" sz="1700" dirty="0"/>
              <a:t>:</a:t>
            </a:r>
          </a:p>
          <a:p>
            <a:r>
              <a:rPr lang="en-US" altLang="zh-CN" sz="1700" b="1" dirty="0"/>
              <a:t>Online</a:t>
            </a:r>
            <a:r>
              <a:rPr lang="en-US" altLang="zh-CN" sz="1700" dirty="0"/>
              <a:t> and </a:t>
            </a:r>
            <a:r>
              <a:rPr lang="en-US" altLang="zh-CN" sz="1700" b="1" dirty="0"/>
              <a:t>Aviation</a:t>
            </a:r>
            <a:r>
              <a:rPr lang="en-US" altLang="zh-CN" sz="1700" dirty="0"/>
              <a:t> yield the highest prices.</a:t>
            </a:r>
            <a:endParaRPr lang="en-CA" altLang="zh-CN" sz="1700" dirty="0"/>
          </a:p>
          <a:p>
            <a:r>
              <a:rPr lang="en-US" altLang="zh-CN" sz="1700" b="1" dirty="0"/>
              <a:t>Corporate</a:t>
            </a:r>
            <a:r>
              <a:rPr lang="en-US" altLang="zh-CN" sz="1700" dirty="0"/>
              <a:t> is stable but moderately priced.</a:t>
            </a:r>
            <a:endParaRPr lang="en-CA" altLang="zh-CN" sz="1700" dirty="0"/>
          </a:p>
          <a:p>
            <a:r>
              <a:rPr lang="en-US" altLang="zh-CN" sz="1700" b="1" dirty="0"/>
              <a:t>Complementary</a:t>
            </a:r>
            <a:r>
              <a:rPr lang="en-US" altLang="zh-CN" sz="1700" dirty="0"/>
              <a:t> brings little to no revenue.</a:t>
            </a:r>
          </a:p>
          <a:p>
            <a:pPr marL="0" indent="0">
              <a:buNone/>
            </a:pPr>
            <a:r>
              <a:rPr lang="en-US" altLang="zh-CN" sz="1700" dirty="0"/>
              <a:t>Canceled bookings often have </a:t>
            </a:r>
            <a:r>
              <a:rPr lang="en-US" altLang="zh-CN" sz="1700" b="1" dirty="0"/>
              <a:t>higher average prices</a:t>
            </a:r>
            <a:r>
              <a:rPr lang="en-US" altLang="zh-CN" sz="1700" dirty="0"/>
              <a:t> than completed ones—posing a revenue leakage risk.</a:t>
            </a:r>
          </a:p>
          <a:p>
            <a:pPr marL="0" indent="0">
              <a:buNone/>
            </a:pPr>
            <a:endParaRPr lang="en-US" altLang="zh-CN" sz="1700" dirty="0"/>
          </a:p>
          <a:p>
            <a:pPr marL="0" indent="0">
              <a:buNone/>
            </a:pPr>
            <a:r>
              <a:rPr lang="en-CA" altLang="zh-CN" b="1" dirty="0"/>
              <a:t>Overall Insight: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sz="1600" dirty="0"/>
              <a:t>High cancellation rates, low customer retention, and revenue loss from volatile segments (especially online) highlight key operational risks.</a:t>
            </a:r>
            <a:br>
              <a:rPr lang="en-US" altLang="zh-CN" sz="1600" dirty="0"/>
            </a:br>
            <a:r>
              <a:rPr lang="en-US" altLang="zh-CN" sz="1600" dirty="0"/>
              <a:t>At the same time, stable high-value segments like Corporate and loyal guests offer strong opportunities for strategic focus.</a:t>
            </a:r>
            <a:endParaRPr lang="en-US" altLang="zh-CN" sz="2200" dirty="0"/>
          </a:p>
          <a:p>
            <a:pPr marL="0" indent="0">
              <a:buNone/>
            </a:pPr>
            <a:endParaRPr lang="en-CA" altLang="zh-CN" sz="22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724420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E63D-3788-A5AA-2A05-33611206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5163A0-9676-AFC1-88A9-6F239CD30651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EDA – </a:t>
            </a:r>
            <a:r>
              <a:rPr lang="en-CA" altLang="zh-CN" b="1" dirty="0">
                <a:solidFill>
                  <a:srgbClr val="1B06BA"/>
                </a:solidFill>
                <a:latin typeface="Aptos Display" panose="02110004020202020204"/>
              </a:rPr>
              <a:t>Bivariate Analysis</a:t>
            </a:r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C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ancellations across different booking channels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2BFE96E-78E7-251E-54FA-BB584DE6B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569" y="1605489"/>
            <a:ext cx="4369763" cy="51170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Deeper analysis reveals an important insight</a:t>
            </a:r>
            <a:r>
              <a:rPr lang="en-CA" altLang="zh-CN" b="1" dirty="0"/>
              <a:t>:</a:t>
            </a:r>
          </a:p>
          <a:p>
            <a:pPr marL="0" indent="0">
              <a:buNone/>
            </a:pPr>
            <a:r>
              <a:rPr lang="en-US" altLang="zh-CN" sz="2000" dirty="0"/>
              <a:t>In the </a:t>
            </a:r>
            <a:r>
              <a:rPr lang="en-US" altLang="zh-CN" sz="2000" b="1" dirty="0"/>
              <a:t>Online</a:t>
            </a:r>
            <a:r>
              <a:rPr lang="en-US" altLang="zh-CN" sz="2000" dirty="0"/>
              <a:t> and </a:t>
            </a:r>
            <a:r>
              <a:rPr lang="en-US" altLang="zh-CN" sz="2000" b="1" dirty="0"/>
              <a:t>Offline</a:t>
            </a:r>
            <a:r>
              <a:rPr lang="en-US" altLang="zh-CN" sz="2000" dirty="0"/>
              <a:t> segments, the </a:t>
            </a:r>
            <a:r>
              <a:rPr lang="en-US" altLang="zh-CN" sz="2000" b="1" dirty="0"/>
              <a:t>canceled bookings</a:t>
            </a:r>
            <a:r>
              <a:rPr lang="en-US" altLang="zh-CN" sz="2000" dirty="0"/>
              <a:t> have </a:t>
            </a:r>
            <a:r>
              <a:rPr lang="en-US" altLang="zh-CN" sz="2000" b="1" dirty="0"/>
              <a:t>higher average prices</a:t>
            </a:r>
            <a:r>
              <a:rPr lang="en-US" altLang="zh-CN" sz="2000" dirty="0"/>
              <a:t> than the non-canceled ones:</a:t>
            </a:r>
          </a:p>
          <a:p>
            <a:r>
              <a:rPr lang="en-US" altLang="zh-CN" sz="2000" dirty="0"/>
              <a:t>Online: Canceled </a:t>
            </a:r>
            <a:r>
              <a:rPr lang="en-US" altLang="zh-CN" sz="2000" b="1" dirty="0"/>
              <a:t>$114.06</a:t>
            </a:r>
            <a:r>
              <a:rPr lang="en-US" altLang="zh-CN" sz="2000" dirty="0"/>
              <a:t> vs </a:t>
            </a:r>
            <a:r>
              <a:rPr lang="en-US" altLang="zh-CN" sz="2000" dirty="0" err="1"/>
              <a:t>Not_Canceled</a:t>
            </a:r>
            <a:r>
              <a:rPr lang="en-US" altLang="zh-CN" sz="2000" dirty="0"/>
              <a:t> </a:t>
            </a:r>
            <a:r>
              <a:rPr lang="en-US" altLang="zh-CN" sz="2000" b="1" dirty="0"/>
              <a:t>$111.11</a:t>
            </a:r>
          </a:p>
          <a:p>
            <a:r>
              <a:rPr lang="en-US" altLang="zh-CN" sz="2000" dirty="0"/>
              <a:t>Offline: Canceled </a:t>
            </a:r>
            <a:r>
              <a:rPr lang="en-US" altLang="zh-CN" sz="2000" b="1" dirty="0"/>
              <a:t>$100.53</a:t>
            </a:r>
            <a:r>
              <a:rPr lang="en-US" altLang="zh-CN" sz="2000" dirty="0"/>
              <a:t> vs </a:t>
            </a:r>
            <a:r>
              <a:rPr lang="en-US" altLang="zh-CN" sz="2000" dirty="0" err="1"/>
              <a:t>Not_Canceled</a:t>
            </a:r>
            <a:r>
              <a:rPr lang="en-US" altLang="zh-CN" sz="2000" dirty="0"/>
              <a:t> </a:t>
            </a:r>
            <a:r>
              <a:rPr lang="en-US" altLang="zh-CN" sz="2000" b="1" dirty="0"/>
              <a:t>$87.50</a:t>
            </a:r>
          </a:p>
          <a:p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dirty="0"/>
              <a:t>This suggests that </a:t>
            </a:r>
            <a:r>
              <a:rPr lang="en-US" altLang="zh-CN" sz="2000" b="1" dirty="0"/>
              <a:t>high-value bookings are more prone to cancellation</a:t>
            </a:r>
            <a:r>
              <a:rPr lang="en-US" altLang="zh-CN" sz="2000" dirty="0"/>
              <a:t>, especially via OTA or agent-based channels</a:t>
            </a:r>
            <a:r>
              <a:rPr lang="en-US" altLang="zh-CN" sz="2000" b="1" dirty="0"/>
              <a:t>.</a:t>
            </a:r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dirty="0"/>
              <a:t>Corporate bookings have </a:t>
            </a:r>
            <a:r>
              <a:rPr lang="en-US" altLang="zh-CN" sz="2000" b="1" dirty="0"/>
              <a:t>lower cancellation prices</a:t>
            </a:r>
            <a:r>
              <a:rPr lang="en-US" altLang="zh-CN" sz="2000" dirty="0"/>
              <a:t>, showing more stability.</a:t>
            </a:r>
          </a:p>
        </p:txBody>
      </p:sp>
      <p:pic>
        <p:nvPicPr>
          <p:cNvPr id="9" name="Picture 8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84BAF39D-8F76-785F-D081-1C7CACDEB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/>
          <a:stretch/>
        </p:blipFill>
        <p:spPr>
          <a:xfrm>
            <a:off x="4487332" y="1232430"/>
            <a:ext cx="7704668" cy="497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73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5D05-5017-3F7C-1ED9-A18A15E0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EAA1FE-E484-1A41-CC30-68E47D091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0151" y="1326089"/>
            <a:ext cx="10863697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Summary:</a:t>
            </a:r>
          </a:p>
          <a:p>
            <a:r>
              <a:rPr lang="en-US" altLang="zh-CN" sz="2000" dirty="0"/>
              <a:t>High-priced bookings in </a:t>
            </a:r>
            <a:r>
              <a:rPr lang="en-US" altLang="zh-CN" sz="2000" b="1" dirty="0"/>
              <a:t>Online and Offline</a:t>
            </a:r>
            <a:r>
              <a:rPr lang="en-US" altLang="zh-CN" sz="2000" dirty="0"/>
              <a:t> segments are more likely to be canceled, leading to revenue loss.</a:t>
            </a:r>
          </a:p>
          <a:p>
            <a:endParaRPr lang="en-US" altLang="zh-CN" sz="2000" dirty="0"/>
          </a:p>
          <a:p>
            <a:r>
              <a:rPr lang="en-US" altLang="zh-CN" sz="2000" b="1" dirty="0"/>
              <a:t>Corporate bookings</a:t>
            </a:r>
            <a:r>
              <a:rPr lang="en-US" altLang="zh-CN" sz="2000" dirty="0"/>
              <a:t>, while moderately priced, are more stable and should be prioritized.</a:t>
            </a:r>
          </a:p>
          <a:p>
            <a:endParaRPr lang="en-US" altLang="zh-CN" sz="2000" dirty="0"/>
          </a:p>
          <a:p>
            <a:r>
              <a:rPr lang="en-US" altLang="zh-CN" sz="2000" dirty="0"/>
              <a:t>Strategies such as </a:t>
            </a:r>
            <a:r>
              <a:rPr lang="en-US" altLang="zh-CN" sz="2000" b="1" dirty="0"/>
              <a:t>non-refundable rates, partial payments, and loyalty incentives</a:t>
            </a:r>
            <a:r>
              <a:rPr lang="en-US" altLang="zh-CN" sz="2000" dirty="0"/>
              <a:t> can mitigate the financial risk of cancellations.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E0A8E-8931-C958-115A-3434A83A841B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EDA – </a:t>
            </a:r>
            <a:r>
              <a:rPr lang="en-CA" altLang="zh-CN" b="1" dirty="0">
                <a:solidFill>
                  <a:srgbClr val="1B06BA"/>
                </a:solidFill>
                <a:latin typeface="Aptos Display" panose="02110004020202020204"/>
              </a:rPr>
              <a:t>Bivariate Analysis</a:t>
            </a:r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C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ancellations across different booking channels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91164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0B6F-F919-6B07-C7CB-30AFBB1CE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5E229E-A2EA-FC8D-6ACC-A28A3BDD2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124" y="1551726"/>
            <a:ext cx="7859876" cy="439187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172CD39-D706-EB47-B554-B1F654DB3A9F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EDA – </a:t>
            </a:r>
            <a:r>
              <a:rPr lang="en-CA" altLang="zh-CN" b="1" dirty="0">
                <a:solidFill>
                  <a:srgbClr val="1B06BA"/>
                </a:solidFill>
                <a:latin typeface="Aptos Display" panose="02110004020202020204"/>
              </a:rPr>
              <a:t>Bivariate Analysis</a:t>
            </a:r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T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he influence of requests on booking cancellations 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26E9FA-0776-0A02-7D60-12CA27C50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356773"/>
            <a:ext cx="4369763" cy="511704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1600" b="1" dirty="0"/>
              <a:t>1. Special Requests vs. Cancellation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Guests </a:t>
            </a:r>
            <a:r>
              <a:rPr lang="en-US" altLang="zh-CN" sz="1600" b="1" dirty="0"/>
              <a:t>with no special requests</a:t>
            </a:r>
            <a:r>
              <a:rPr lang="en-US" altLang="zh-CN" sz="1600" dirty="0"/>
              <a:t> have the </a:t>
            </a:r>
            <a:r>
              <a:rPr lang="en-US" altLang="zh-CN" sz="1600" b="1" dirty="0"/>
              <a:t>highest cancellation rate</a:t>
            </a:r>
            <a:r>
              <a:rPr lang="en-US" altLang="zh-CN" sz="1600" dirty="0"/>
              <a:t>, nearly </a:t>
            </a:r>
            <a:r>
              <a:rPr lang="en-US" altLang="zh-CN" sz="1600" b="1" dirty="0"/>
              <a:t>45%</a:t>
            </a:r>
            <a:r>
              <a:rPr lang="en-US" altLang="zh-CN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As the </a:t>
            </a:r>
            <a:r>
              <a:rPr lang="en-US" altLang="zh-CN" sz="1600" b="1" dirty="0"/>
              <a:t>number of special requests increases</a:t>
            </a:r>
            <a:r>
              <a:rPr lang="en-US" altLang="zh-CN" sz="1600" dirty="0"/>
              <a:t>, the </a:t>
            </a:r>
            <a:r>
              <a:rPr lang="en-US" altLang="zh-CN" sz="1600" b="1" dirty="0"/>
              <a:t>cancellation rate decreases significantly</a:t>
            </a:r>
            <a:r>
              <a:rPr lang="en-US" altLang="zh-CN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Guests who made </a:t>
            </a:r>
            <a:r>
              <a:rPr lang="en-US" altLang="zh-CN" sz="1600" b="1" dirty="0"/>
              <a:t>3 or more requests almost never cancel.</a:t>
            </a:r>
          </a:p>
          <a:p>
            <a:pPr>
              <a:buNone/>
            </a:pPr>
            <a:r>
              <a:rPr lang="en-US" altLang="zh-CN" sz="1600" b="1" dirty="0"/>
              <a:t>2. Required Parking Space vs. Cancellation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Guests who </a:t>
            </a:r>
            <a:r>
              <a:rPr lang="en-US" altLang="zh-CN" sz="1600" b="1" dirty="0"/>
              <a:t>require parking</a:t>
            </a:r>
            <a:r>
              <a:rPr lang="en-US" altLang="zh-CN" sz="1600" dirty="0"/>
              <a:t> cancel far less (below </a:t>
            </a:r>
            <a:r>
              <a:rPr lang="en-US" altLang="zh-CN" sz="1600" b="1" dirty="0"/>
              <a:t>10%</a:t>
            </a:r>
            <a:r>
              <a:rPr lang="en-US" altLang="zh-CN" sz="1600" dirty="0"/>
              <a:t>) compared to those who don’t.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The cancellation rate for guests </a:t>
            </a:r>
            <a:r>
              <a:rPr lang="en-US" altLang="zh-CN" sz="1600" b="1" dirty="0"/>
              <a:t>not requiring parking</a:t>
            </a:r>
            <a:r>
              <a:rPr lang="en-US" altLang="zh-CN" sz="1600" dirty="0"/>
              <a:t> is much higher, around </a:t>
            </a:r>
            <a:r>
              <a:rPr lang="en-US" altLang="zh-CN" sz="1600" b="1" dirty="0"/>
              <a:t>30%</a:t>
            </a:r>
            <a:r>
              <a:rPr lang="en-US" altLang="zh-CN" sz="1600" dirty="0"/>
              <a:t>.</a:t>
            </a:r>
            <a:endParaRPr lang="en-US" altLang="zh-CN" sz="1600" b="1" dirty="0"/>
          </a:p>
          <a:p>
            <a:pPr>
              <a:buNone/>
            </a:pPr>
            <a:r>
              <a:rPr lang="en-US" altLang="zh-CN" sz="1600" b="1" dirty="0"/>
              <a:t>3. Meal Plan Type vs. Cancellation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Bookings with </a:t>
            </a:r>
            <a:r>
              <a:rPr lang="en-US" altLang="zh-CN" sz="1600" b="1" dirty="0"/>
              <a:t>Half Board (HB)</a:t>
            </a:r>
            <a:r>
              <a:rPr lang="en-US" altLang="zh-CN" sz="1600" dirty="0"/>
              <a:t> (type 2) show the </a:t>
            </a:r>
            <a:r>
              <a:rPr lang="en-US" altLang="zh-CN" sz="1600" b="1" dirty="0"/>
              <a:t>highest cancellation rate</a:t>
            </a:r>
            <a:r>
              <a:rPr lang="en-US" altLang="zh-CN" sz="1600" dirty="0"/>
              <a:t> among all meal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Bookings with </a:t>
            </a:r>
            <a:r>
              <a:rPr lang="en-US" altLang="zh-CN" sz="1600" b="1" dirty="0"/>
              <a:t>no meals (SC)</a:t>
            </a:r>
            <a:r>
              <a:rPr lang="en-US" altLang="zh-CN" sz="1600" dirty="0"/>
              <a:t> or </a:t>
            </a:r>
            <a:r>
              <a:rPr lang="en-US" altLang="zh-CN" sz="1600" b="1" dirty="0"/>
              <a:t>Full Board (FB)</a:t>
            </a:r>
            <a:r>
              <a:rPr lang="en-US" altLang="zh-CN" sz="1600" dirty="0"/>
              <a:t> (type 3) are more stable.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673996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8066-8931-2849-B3D0-DAE58033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88C3357-A6A0-B84D-DAD6-978B97958A75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EDA – </a:t>
            </a:r>
            <a:r>
              <a:rPr lang="en-CA" altLang="zh-CN" b="1" dirty="0">
                <a:solidFill>
                  <a:srgbClr val="1B06BA"/>
                </a:solidFill>
                <a:latin typeface="Aptos Display" panose="02110004020202020204"/>
              </a:rPr>
              <a:t>Bivariate Analysis</a:t>
            </a:r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T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he influence of requests on booking cancellations 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5495C91-A2FF-BAFE-483A-B1EE0C0EC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4151" y="1333405"/>
            <a:ext cx="10863697" cy="51170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CA" altLang="zh-CN" b="1" dirty="0"/>
              <a:t>Recommendations:</a:t>
            </a:r>
          </a:p>
          <a:p>
            <a:pPr>
              <a:buNone/>
            </a:pPr>
            <a:r>
              <a:rPr lang="en-CA" altLang="zh-CN" sz="2000" dirty="0"/>
              <a:t>1. </a:t>
            </a:r>
            <a:r>
              <a:rPr lang="en-US" altLang="zh-CN" sz="2000" b="1" dirty="0"/>
              <a:t>Flag bookings with no special requests</a:t>
            </a:r>
            <a:r>
              <a:rPr lang="en-US" altLang="zh-CN" sz="2000" dirty="0"/>
              <a:t> as </a:t>
            </a:r>
            <a:r>
              <a:rPr lang="en-US" altLang="zh-CN" sz="2000" b="1" dirty="0"/>
              <a:t>high-risk</a:t>
            </a:r>
            <a:r>
              <a:rPr lang="en-US" altLang="zh-CN" sz="2000" dirty="0"/>
              <a:t>, and consider: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Sending automated confirmation/reminder emails.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Offering discounts for selecting </a:t>
            </a:r>
            <a:r>
              <a:rPr lang="en-US" altLang="zh-CN" sz="2000" b="1" dirty="0"/>
              <a:t>non-refundable options.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>
              <a:buNone/>
            </a:pPr>
            <a:r>
              <a:rPr lang="en-US" altLang="zh-CN" sz="2000" b="1" dirty="0"/>
              <a:t>2. Treat customers who request parking or multiple services as high-value</a:t>
            </a:r>
            <a:r>
              <a:rPr lang="en-US" altLang="zh-CN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Offer loyalty benefits or priority check-in.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Target them with retention campaigns.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3. </a:t>
            </a:r>
            <a:r>
              <a:rPr lang="en-US" altLang="zh-CN" sz="2000" b="1" dirty="0"/>
              <a:t>Re-evaluate pricing or policy for Half Board customers</a:t>
            </a:r>
            <a:r>
              <a:rPr lang="en-US" altLang="zh-CN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Encourage </a:t>
            </a:r>
            <a:r>
              <a:rPr lang="en-US" altLang="zh-CN" sz="2000" b="1" dirty="0"/>
              <a:t>prepayment</a:t>
            </a:r>
            <a:r>
              <a:rPr lang="en-US" altLang="zh-CN" sz="2000" dirty="0"/>
              <a:t> or </a:t>
            </a:r>
            <a:r>
              <a:rPr lang="en-US" altLang="zh-CN" sz="2000" b="1" dirty="0"/>
              <a:t>deposit requirements</a:t>
            </a:r>
            <a:r>
              <a:rPr lang="en-US" altLang="zh-CN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Consider </a:t>
            </a:r>
            <a:r>
              <a:rPr lang="en-US" altLang="zh-CN" sz="2000" b="1" dirty="0"/>
              <a:t>flexible upgrades</a:t>
            </a:r>
            <a:r>
              <a:rPr lang="en-US" altLang="zh-CN" sz="2000" dirty="0"/>
              <a:t> to Full Board to improve booking commitment.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4. </a:t>
            </a:r>
            <a:r>
              <a:rPr lang="en-US" altLang="zh-CN" sz="2000" b="1" dirty="0"/>
              <a:t>Build a behavioral risk profile</a:t>
            </a:r>
            <a:r>
              <a:rPr lang="en-US" altLang="zh-CN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Combine these variables to develop a </a:t>
            </a:r>
            <a:r>
              <a:rPr lang="en-US" altLang="zh-CN" sz="2000" b="1" dirty="0"/>
              <a:t>“cancellation risk score”</a:t>
            </a:r>
            <a:r>
              <a:rPr lang="en-US" altLang="zh-CN" sz="2000" dirty="0"/>
              <a:t> and apply tailored booking terms accordingly</a:t>
            </a:r>
          </a:p>
          <a:p>
            <a:pPr marL="0" indent="0">
              <a:buNone/>
            </a:pPr>
            <a:endParaRPr lang="en-US" altLang="zh-CN" sz="1050" dirty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663218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E1141-A165-D61E-7DC4-8D528028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F19E71-E5EF-A3FF-211C-1007D7493901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EDA – </a:t>
            </a:r>
            <a:r>
              <a:rPr lang="en-CA" altLang="zh-CN" b="1" dirty="0">
                <a:solidFill>
                  <a:srgbClr val="1B06BA"/>
                </a:solidFill>
                <a:latin typeface="Aptos Display" panose="02110004020202020204"/>
              </a:rPr>
              <a:t>Bivariate Analysis</a:t>
            </a:r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T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he influence of lead time on booking cancellations 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1CD8F6F-4E10-871F-BF34-3C211AA8C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50800" y="1006868"/>
            <a:ext cx="4369763" cy="577856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2000" b="1" dirty="0"/>
              <a:t>Interpretation of Lead Time vs. Cancellation Rate:</a:t>
            </a:r>
          </a:p>
          <a:p>
            <a:pPr>
              <a:buNone/>
            </a:pPr>
            <a:r>
              <a:rPr lang="en-US" altLang="zh-CN" sz="1600" dirty="0"/>
              <a:t>1. </a:t>
            </a:r>
            <a:r>
              <a:rPr lang="en-CA" altLang="zh-CN" sz="1600" b="1" dirty="0"/>
              <a:t>0–30 days (Last-minute bookings):</a:t>
            </a:r>
            <a:endParaRPr lang="en-CA" altLang="zh-CN" sz="1600" dirty="0"/>
          </a:p>
          <a:p>
            <a:r>
              <a:rPr lang="en-US" altLang="zh-CN" sz="1600" b="1" dirty="0"/>
              <a:t>Lowest cancellation rate</a:t>
            </a:r>
            <a:r>
              <a:rPr lang="en-US" altLang="zh-CN" sz="1600" dirty="0"/>
              <a:t> (only </a:t>
            </a:r>
            <a:r>
              <a:rPr lang="en-US" altLang="zh-CN" sz="1600" b="1" dirty="0"/>
              <a:t>8.19%</a:t>
            </a:r>
            <a:r>
              <a:rPr lang="en-US" altLang="zh-CN" sz="1600" dirty="0"/>
              <a:t>).</a:t>
            </a:r>
          </a:p>
          <a:p>
            <a:r>
              <a:rPr lang="en-US" altLang="zh-CN" sz="1600" dirty="0"/>
              <a:t>Indicates </a:t>
            </a:r>
            <a:r>
              <a:rPr lang="en-US" altLang="zh-CN" sz="1600" b="1" dirty="0"/>
              <a:t>high reliability</a:t>
            </a:r>
            <a:r>
              <a:rPr lang="en-US" altLang="zh-CN" sz="1600" dirty="0"/>
              <a:t> among late bookers.</a:t>
            </a:r>
          </a:p>
          <a:p>
            <a:pPr marL="0" indent="0">
              <a:buNone/>
            </a:pPr>
            <a:r>
              <a:rPr lang="en-US" altLang="zh-CN" sz="1600" b="1" dirty="0"/>
              <a:t>2. </a:t>
            </a:r>
            <a:r>
              <a:rPr lang="en-CA" altLang="zh-CN" sz="1600" b="1" dirty="0"/>
              <a:t>120+ days (Early bookings):</a:t>
            </a:r>
          </a:p>
          <a:p>
            <a:r>
              <a:rPr lang="en-CA" altLang="zh-CN" sz="1600" b="1" dirty="0"/>
              <a:t>Highest cancellation rate</a:t>
            </a:r>
            <a:r>
              <a:rPr lang="en-CA" altLang="zh-CN" sz="1600" dirty="0"/>
              <a:t> (</a:t>
            </a:r>
            <a:r>
              <a:rPr lang="en-CA" altLang="zh-CN" sz="1600" b="1" dirty="0"/>
              <a:t>63.28%</a:t>
            </a:r>
            <a:r>
              <a:rPr lang="en-CA" altLang="zh-CN" sz="1600" dirty="0"/>
              <a:t>).</a:t>
            </a:r>
          </a:p>
          <a:p>
            <a:r>
              <a:rPr lang="en-US" altLang="zh-CN" sz="1600" dirty="0"/>
              <a:t>These customers are likely to </a:t>
            </a:r>
            <a:r>
              <a:rPr lang="en-US" altLang="zh-CN" sz="1600" b="1" dirty="0"/>
              <a:t>change plans</a:t>
            </a:r>
            <a:r>
              <a:rPr lang="en-US" altLang="zh-CN" sz="1600" dirty="0"/>
              <a:t> or </a:t>
            </a:r>
            <a:r>
              <a:rPr lang="en-US" altLang="zh-CN" sz="1600" b="1" dirty="0"/>
              <a:t>book multiple hotels</a:t>
            </a:r>
            <a:r>
              <a:rPr lang="en-US" altLang="zh-CN" sz="1600" dirty="0"/>
              <a:t> in advance</a:t>
            </a:r>
          </a:p>
          <a:p>
            <a:pPr marL="0" indent="0">
              <a:buNone/>
            </a:pPr>
            <a:r>
              <a:rPr lang="en-US" altLang="zh-CN" sz="1600" dirty="0"/>
              <a:t>3. </a:t>
            </a:r>
            <a:r>
              <a:rPr lang="en-US" altLang="zh-CN" sz="1600" b="1" dirty="0"/>
              <a:t>91–120 days group</a:t>
            </a:r>
            <a:r>
              <a:rPr lang="en-US" altLang="zh-CN" sz="1600" dirty="0"/>
              <a:t> also shows a relatively </a:t>
            </a:r>
            <a:r>
              <a:rPr lang="en-US" altLang="zh-CN" sz="1600" b="1" dirty="0"/>
              <a:t>high cancellation rate</a:t>
            </a:r>
            <a:r>
              <a:rPr lang="en-US" altLang="zh-CN" sz="1600" dirty="0"/>
              <a:t> (</a:t>
            </a:r>
            <a:r>
              <a:rPr lang="en-US" altLang="zh-CN" sz="1600" b="1" dirty="0"/>
              <a:t>41.21%</a:t>
            </a:r>
            <a:r>
              <a:rPr lang="en-US" altLang="zh-CN" sz="1600" dirty="0"/>
              <a:t>).</a:t>
            </a:r>
          </a:p>
          <a:p>
            <a:pPr marL="0" indent="0">
              <a:buNone/>
            </a:pPr>
            <a:r>
              <a:rPr lang="en-US" altLang="zh-CN" sz="1600" dirty="0"/>
              <a:t>4. </a:t>
            </a:r>
            <a:r>
              <a:rPr lang="en-CA" altLang="zh-CN" sz="1600" b="1" dirty="0"/>
              <a:t>31–90 days</a:t>
            </a:r>
            <a:r>
              <a:rPr lang="en-CA" altLang="zh-CN" sz="1600" dirty="0"/>
              <a:t> (intermediate groups):</a:t>
            </a:r>
            <a:endParaRPr lang="en-US" altLang="zh-CN" sz="1600" dirty="0"/>
          </a:p>
          <a:p>
            <a:r>
              <a:rPr lang="en-US" altLang="zh-CN" sz="1600" dirty="0"/>
              <a:t>Cancellation rates are moderate (~20–27%).</a:t>
            </a:r>
          </a:p>
          <a:p>
            <a:pPr marL="0" indent="0">
              <a:buNone/>
            </a:pPr>
            <a:r>
              <a:rPr lang="en-CA" altLang="zh-CN" sz="2000" b="1" dirty="0"/>
              <a:t>Insights &amp; Implications:</a:t>
            </a:r>
          </a:p>
          <a:p>
            <a:r>
              <a:rPr lang="en-US" altLang="zh-CN" sz="1600" b="1" dirty="0"/>
              <a:t>The longer the lead time</a:t>
            </a:r>
            <a:r>
              <a:rPr lang="en-US" altLang="zh-CN" sz="1600" dirty="0"/>
              <a:t>, the </a:t>
            </a:r>
            <a:r>
              <a:rPr lang="en-US" altLang="zh-CN" sz="1600" b="1" dirty="0"/>
              <a:t>higher the chance of cancellation</a:t>
            </a:r>
            <a:r>
              <a:rPr lang="en-US" altLang="zh-CN" sz="1600" dirty="0"/>
              <a:t>.</a:t>
            </a:r>
          </a:p>
          <a:p>
            <a:r>
              <a:rPr lang="en-US" altLang="zh-CN" sz="1600" dirty="0"/>
              <a:t>Shorter lead times correlate with more </a:t>
            </a:r>
            <a:r>
              <a:rPr lang="en-US" altLang="zh-CN" sz="1600" b="1" dirty="0"/>
              <a:t>decisive and committed customers</a:t>
            </a:r>
            <a:r>
              <a:rPr lang="en-US" altLang="zh-CN" sz="1600" dirty="0"/>
              <a:t>.</a:t>
            </a:r>
            <a:endParaRPr lang="en-US" altLang="zh-CN" sz="1600" b="1" dirty="0"/>
          </a:p>
          <a:p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</p:txBody>
      </p:sp>
      <p:pic>
        <p:nvPicPr>
          <p:cNvPr id="7" name="Picture 6" descr="A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16E5291D-F3A3-D586-44A0-821FB125C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763" y="1232430"/>
            <a:ext cx="7751353" cy="466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92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6AF86-4662-AA8C-AEE1-E7532689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5ED472-ABED-DBEC-BAD4-72C84A6A7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4151" y="1333405"/>
            <a:ext cx="10863697" cy="511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altLang="zh-CN" b="1" dirty="0"/>
              <a:t>Recommendations:</a:t>
            </a:r>
          </a:p>
          <a:p>
            <a:pPr marL="342900" indent="-342900">
              <a:buAutoNum type="arabicPeriod"/>
            </a:pPr>
            <a:r>
              <a:rPr lang="en-US" altLang="zh-CN" sz="2000" b="1" dirty="0"/>
              <a:t>Adjust Cancellation Policies by Lead Time:</a:t>
            </a:r>
          </a:p>
          <a:p>
            <a:r>
              <a:rPr lang="en-US" altLang="zh-CN" sz="2000" dirty="0"/>
              <a:t>For </a:t>
            </a:r>
            <a:r>
              <a:rPr lang="en-US" altLang="zh-CN" sz="2000" b="1" dirty="0"/>
              <a:t>120+ day bookings</a:t>
            </a:r>
            <a:r>
              <a:rPr lang="en-US" altLang="zh-CN" sz="2000" dirty="0"/>
              <a:t>, enforce: </a:t>
            </a:r>
            <a:r>
              <a:rPr lang="en-CA" altLang="zh-CN" sz="2000" b="1" dirty="0"/>
              <a:t>Non-refundable rates</a:t>
            </a:r>
            <a:r>
              <a:rPr lang="en-CA" altLang="zh-CN" sz="2000" dirty="0"/>
              <a:t> or </a:t>
            </a:r>
            <a:r>
              <a:rPr lang="en-US" altLang="zh-CN" sz="2000" dirty="0"/>
              <a:t>require a </a:t>
            </a:r>
            <a:r>
              <a:rPr lang="en-US" altLang="zh-CN" sz="2000" b="1" dirty="0"/>
              <a:t>deposit or partial payment</a:t>
            </a:r>
            <a:r>
              <a:rPr lang="en-US" altLang="zh-CN" sz="2000" dirty="0"/>
              <a:t>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Send </a:t>
            </a:r>
            <a:r>
              <a:rPr lang="en-US" altLang="zh-CN" sz="2000" b="1" dirty="0"/>
              <a:t>reminder emails</a:t>
            </a:r>
            <a:r>
              <a:rPr lang="en-US" altLang="zh-CN" sz="2000" dirty="0"/>
              <a:t> to reconfirm intent 1–2 weeks before arrival</a:t>
            </a:r>
            <a:r>
              <a:rPr lang="en-US" altLang="zh-CN" sz="2000" b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b="1" dirty="0"/>
          </a:p>
          <a:p>
            <a:pPr>
              <a:buNone/>
            </a:pPr>
            <a:r>
              <a:rPr lang="en-US" altLang="zh-CN" sz="2000" b="1" dirty="0"/>
              <a:t>2. Monitor and Forecast High-Risk Periods: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Use this insight to </a:t>
            </a:r>
            <a:r>
              <a:rPr lang="en-US" altLang="zh-CN" sz="2000" b="1" dirty="0"/>
              <a:t>adjust availability and pricing</a:t>
            </a:r>
            <a:r>
              <a:rPr lang="en-US" altLang="zh-CN" sz="2000" dirty="0"/>
              <a:t> dynamically for long-lead-time bookings..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Consider </a:t>
            </a:r>
            <a:r>
              <a:rPr lang="en-US" altLang="zh-CN" sz="2000" b="1" dirty="0"/>
              <a:t>overbooking buffers</a:t>
            </a:r>
            <a:r>
              <a:rPr lang="en-US" altLang="zh-CN" sz="2000" dirty="0"/>
              <a:t> for periods with high early booking cancellations.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>
              <a:buNone/>
            </a:pPr>
            <a:r>
              <a:rPr lang="en-US" altLang="zh-CN" sz="2000" b="1" dirty="0"/>
              <a:t>3. Segment Campaigns Based on Booking Window: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Encourage last-minute bookings with </a:t>
            </a:r>
            <a:r>
              <a:rPr lang="en-US" altLang="zh-CN" sz="2000" b="1" dirty="0"/>
              <a:t>targeted promotions</a:t>
            </a:r>
            <a:r>
              <a:rPr lang="en-US" altLang="zh-CN" sz="2000" dirty="0"/>
              <a:t>, knowing these customers are more reliable.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1050" dirty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D59F7-1632-F37C-E886-73F97547C964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EDA – </a:t>
            </a:r>
            <a:r>
              <a:rPr lang="en-CA" altLang="zh-CN" b="1" dirty="0">
                <a:solidFill>
                  <a:srgbClr val="1B06BA"/>
                </a:solidFill>
                <a:latin typeface="Aptos Display" panose="02110004020202020204"/>
              </a:rPr>
              <a:t>Bivariate Analysis</a:t>
            </a:r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r>
              <a:rPr lang="en-US" sz="2200" b="1" dirty="0">
                <a:solidFill>
                  <a:srgbClr val="1B06BA"/>
                </a:solidFill>
                <a:latin typeface="Aptos Display" panose="02110004020202020204"/>
              </a:rPr>
              <a:t>T</a:t>
            </a:r>
            <a:r>
              <a:rPr lang="en-US" altLang="zh-CN" sz="2200" b="1" dirty="0">
                <a:solidFill>
                  <a:srgbClr val="1B06BA"/>
                </a:solidFill>
                <a:latin typeface="Aptos Display" panose="02110004020202020204"/>
              </a:rPr>
              <a:t>he influence of lead time on booking cancellations </a:t>
            </a: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93159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F0B2-5C85-F7A0-AA6D-E12AE549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68AB03-85E3-888B-FCF3-EAFD196A1FF9}"/>
              </a:ext>
            </a:extLst>
          </p:cNvPr>
          <p:cNvSpPr txBox="1">
            <a:spLocks/>
          </p:cNvSpPr>
          <p:nvPr/>
        </p:nvSpPr>
        <p:spPr>
          <a:xfrm>
            <a:off x="0" y="-110066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zh-CN" b="1" dirty="0">
                <a:solidFill>
                  <a:srgbClr val="1B06BA"/>
                </a:solidFill>
                <a:latin typeface="+mn-lt"/>
              </a:rPr>
              <a:t>Results EDA – Bivariate Analysis</a:t>
            </a:r>
            <a:r>
              <a:rPr lang="en-CA" b="1" dirty="0">
                <a:solidFill>
                  <a:srgbClr val="1B06BA"/>
                </a:solidFill>
                <a:latin typeface="+mn-lt"/>
              </a:rPr>
              <a:t>:</a:t>
            </a:r>
            <a:endParaRPr lang="en-CA" sz="2200" b="1" dirty="0">
              <a:solidFill>
                <a:srgbClr val="1B06BA"/>
              </a:solidFill>
              <a:latin typeface="+mn-lt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B065840-4BF3-77BA-73D6-3E0EB47CE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3151" y="846667"/>
            <a:ext cx="11684000" cy="60113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Summary:</a:t>
            </a:r>
          </a:p>
          <a:p>
            <a:pPr marL="0" indent="0">
              <a:buNone/>
            </a:pPr>
            <a:r>
              <a:rPr lang="en-CA" altLang="zh-CN" sz="2000" b="1" dirty="0"/>
              <a:t>1. </a:t>
            </a:r>
            <a:r>
              <a:rPr lang="en-US" altLang="zh-CN" sz="2000" b="1" dirty="0"/>
              <a:t>Booking Channel vs Cancellation Rate:</a:t>
            </a:r>
            <a:endParaRPr lang="en-CA" altLang="zh-CN" sz="2000" b="1" dirty="0"/>
          </a:p>
          <a:p>
            <a:r>
              <a:rPr lang="en-US" altLang="zh-CN" sz="2000" b="1" dirty="0"/>
              <a:t>Online</a:t>
            </a:r>
            <a:r>
              <a:rPr lang="en-US" altLang="zh-CN" sz="2000" dirty="0"/>
              <a:t> bookings had the highest cancellation rate, while </a:t>
            </a:r>
            <a:r>
              <a:rPr lang="en-US" altLang="zh-CN" sz="2000" b="1" dirty="0"/>
              <a:t>Offline</a:t>
            </a:r>
            <a:r>
              <a:rPr lang="en-US" altLang="zh-CN" sz="2000" dirty="0"/>
              <a:t> and </a:t>
            </a:r>
            <a:r>
              <a:rPr lang="en-US" altLang="zh-CN" sz="2000" b="1" dirty="0"/>
              <a:t>Corporate</a:t>
            </a:r>
            <a:r>
              <a:rPr lang="en-US" altLang="zh-CN" sz="2000" dirty="0"/>
              <a:t> segments were more stable.</a:t>
            </a:r>
          </a:p>
          <a:p>
            <a:r>
              <a:rPr lang="en-US" altLang="zh-CN" sz="2000" dirty="0"/>
              <a:t>High-priced Online bookings with long lead times were more likely to be canceled.</a:t>
            </a:r>
          </a:p>
          <a:p>
            <a:endParaRPr lang="en-US" altLang="zh-CN" sz="2000" b="1" dirty="0"/>
          </a:p>
          <a:p>
            <a:pPr marL="0" indent="0">
              <a:buNone/>
            </a:pPr>
            <a:r>
              <a:rPr lang="en-CA" altLang="zh-CN" sz="2000" b="1" dirty="0"/>
              <a:t>2. Special Requests &amp; Customer Needs:</a:t>
            </a:r>
          </a:p>
          <a:p>
            <a:r>
              <a:rPr lang="en-US" altLang="zh-CN" sz="2000" dirty="0"/>
              <a:t>Guests with </a:t>
            </a:r>
            <a:r>
              <a:rPr lang="en-US" altLang="zh-CN" sz="2000" b="1" dirty="0"/>
              <a:t>more special requests</a:t>
            </a:r>
            <a:r>
              <a:rPr lang="en-US" altLang="zh-CN" sz="2000" dirty="0"/>
              <a:t>, </a:t>
            </a:r>
            <a:r>
              <a:rPr lang="en-US" altLang="zh-CN" sz="2000" b="1" dirty="0"/>
              <a:t>meal plans</a:t>
            </a:r>
            <a:r>
              <a:rPr lang="en-US" altLang="zh-CN" sz="2000" dirty="0"/>
              <a:t>, or </a:t>
            </a:r>
            <a:r>
              <a:rPr lang="en-US" altLang="zh-CN" sz="2000" b="1" dirty="0"/>
              <a:t>parking needs</a:t>
            </a:r>
            <a:r>
              <a:rPr lang="en-US" altLang="zh-CN" sz="2000" dirty="0"/>
              <a:t> showed significantly </a:t>
            </a:r>
            <a:r>
              <a:rPr lang="en-US" altLang="zh-CN" sz="2000" b="1" dirty="0"/>
              <a:t>lower cancellation rates</a:t>
            </a:r>
            <a:r>
              <a:rPr lang="en-US" altLang="zh-CN" sz="2000" dirty="0"/>
              <a:t>.</a:t>
            </a:r>
          </a:p>
          <a:p>
            <a:r>
              <a:rPr lang="en-US" altLang="zh-CN" sz="2000" dirty="0"/>
              <a:t>Indicates these guests are more serious and committed to their stay.</a:t>
            </a:r>
          </a:p>
          <a:p>
            <a:endParaRPr lang="en-CA" altLang="zh-CN" sz="2000" dirty="0"/>
          </a:p>
          <a:p>
            <a:pPr marL="0" indent="0">
              <a:buNone/>
            </a:pPr>
            <a:r>
              <a:rPr lang="en-CA" altLang="zh-CN" sz="2000" b="1" dirty="0"/>
              <a:t>3. Lead Time vs Cancellation:</a:t>
            </a:r>
          </a:p>
          <a:p>
            <a:r>
              <a:rPr lang="en-US" altLang="zh-CN" sz="2000" b="1" dirty="0"/>
              <a:t>Early bookings (120+ days)</a:t>
            </a:r>
            <a:r>
              <a:rPr lang="en-US" altLang="zh-CN" sz="2000" dirty="0"/>
              <a:t> had the </a:t>
            </a:r>
            <a:r>
              <a:rPr lang="en-US" altLang="zh-CN" sz="2000" b="1" dirty="0"/>
              <a:t>highest cancellation rate (63.28%)</a:t>
            </a:r>
            <a:r>
              <a:rPr lang="en-US" altLang="zh-CN" sz="2000" dirty="0"/>
              <a:t>.</a:t>
            </a:r>
            <a:endParaRPr lang="en-CA" altLang="zh-CN" sz="2000" dirty="0"/>
          </a:p>
          <a:p>
            <a:r>
              <a:rPr lang="en-US" altLang="zh-CN" sz="2000" b="1" dirty="0"/>
              <a:t>Last-minute bookings (0–30 days)</a:t>
            </a:r>
            <a:r>
              <a:rPr lang="en-US" altLang="zh-CN" sz="2000" dirty="0"/>
              <a:t> were the </a:t>
            </a:r>
            <a:r>
              <a:rPr lang="en-US" altLang="zh-CN" sz="2000" b="1" dirty="0"/>
              <a:t>most reliable (only 8.2% canceled)</a:t>
            </a:r>
          </a:p>
          <a:p>
            <a:endParaRPr lang="en-CA" altLang="zh-CN" sz="2000" dirty="0"/>
          </a:p>
          <a:p>
            <a:pPr marL="0" indent="0">
              <a:buNone/>
            </a:pPr>
            <a:r>
              <a:rPr lang="en-CA" altLang="zh-CN" sz="2000" b="1" dirty="0"/>
              <a:t>4. </a:t>
            </a:r>
            <a:r>
              <a:rPr lang="en-CA" altLang="zh-CN" sz="2000" dirty="0"/>
              <a:t>Monthly Patterns:</a:t>
            </a:r>
          </a:p>
          <a:p>
            <a:r>
              <a:rPr lang="en-US" altLang="zh-CN" sz="2000" dirty="0"/>
              <a:t>Cancellation rates varied across months, suggesting potential </a:t>
            </a:r>
            <a:r>
              <a:rPr lang="en-US" altLang="zh-CN" sz="2000" b="1" dirty="0"/>
              <a:t>seasonal trends</a:t>
            </a:r>
            <a:r>
              <a:rPr lang="en-US" altLang="zh-CN" sz="2000" dirty="0"/>
              <a:t> or </a:t>
            </a:r>
            <a:r>
              <a:rPr lang="en-US" altLang="zh-CN" sz="2000" b="1" dirty="0"/>
              <a:t>holiday effects</a:t>
            </a:r>
            <a:r>
              <a:rPr lang="en-US" altLang="zh-CN" sz="2000" dirty="0"/>
              <a:t>.</a:t>
            </a:r>
          </a:p>
          <a:p>
            <a:pPr marL="0" indent="0">
              <a:buNone/>
            </a:pPr>
            <a:endParaRPr lang="en-CA" altLang="zh-CN" sz="22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773527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1B72F2-8E74-92E3-7DC6-E7D9B43FBEF3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zh-CN" b="1" dirty="0">
                <a:solidFill>
                  <a:srgbClr val="1B06BA"/>
                </a:solidFill>
                <a:latin typeface="Aptos Display" panose="02110004020202020204"/>
              </a:rPr>
              <a:t>Recommendations</a:t>
            </a:r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1D169E-3BD0-6141-1B29-3A4009F48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351" y="870478"/>
            <a:ext cx="10863697" cy="580972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altLang="zh-CN" sz="2000" b="1" dirty="0"/>
              <a:t>Focus on Loyal &amp; Low-Cancellation Segments</a:t>
            </a:r>
            <a:endParaRPr lang="en-US" altLang="zh-CN" sz="2000" dirty="0"/>
          </a:p>
          <a:p>
            <a:pPr lvl="1"/>
            <a:r>
              <a:rPr lang="en-US" altLang="zh-CN" sz="2000" dirty="0"/>
              <a:t>Prioritize </a:t>
            </a:r>
            <a:r>
              <a:rPr lang="en-US" altLang="zh-CN" sz="2000" b="1" dirty="0"/>
              <a:t>repeated</a:t>
            </a:r>
            <a:r>
              <a:rPr lang="en-US" altLang="zh-CN" sz="2000" dirty="0"/>
              <a:t> </a:t>
            </a:r>
            <a:r>
              <a:rPr lang="en-US" altLang="zh-CN" sz="2000" b="1" dirty="0"/>
              <a:t>guests</a:t>
            </a:r>
            <a:r>
              <a:rPr lang="en-US" altLang="zh-CN" sz="2000" dirty="0"/>
              <a:t>, </a:t>
            </a:r>
            <a:r>
              <a:rPr lang="en-US" altLang="zh-CN" sz="2000" b="1" dirty="0"/>
              <a:t>corporate</a:t>
            </a:r>
            <a:r>
              <a:rPr lang="en-US" altLang="zh-CN" sz="2000" dirty="0"/>
              <a:t>, and </a:t>
            </a:r>
            <a:r>
              <a:rPr lang="en-US" altLang="zh-CN" sz="2000" b="1" dirty="0"/>
              <a:t>offline</a:t>
            </a:r>
            <a:r>
              <a:rPr lang="en-US" altLang="zh-CN" sz="2000" dirty="0"/>
              <a:t> segments with lower cancellation rates.</a:t>
            </a:r>
          </a:p>
          <a:p>
            <a:pPr>
              <a:buFont typeface="+mj-lt"/>
              <a:buAutoNum type="arabicPeriod"/>
            </a:pPr>
            <a:r>
              <a:rPr lang="en-US" altLang="zh-CN" sz="2000" b="1" dirty="0"/>
              <a:t>Implement Tiered Cancellation Policies</a:t>
            </a:r>
            <a:endParaRPr lang="en-US" altLang="zh-CN" sz="2000" dirty="0"/>
          </a:p>
          <a:p>
            <a:pPr lvl="1"/>
            <a:r>
              <a:rPr lang="en-US" altLang="zh-CN" sz="2000" dirty="0"/>
              <a:t>Set </a:t>
            </a:r>
            <a:r>
              <a:rPr lang="en-US" altLang="zh-CN" sz="2000" b="1" dirty="0"/>
              <a:t>stricter rules</a:t>
            </a:r>
            <a:r>
              <a:rPr lang="en-US" altLang="zh-CN" sz="2000" dirty="0"/>
              <a:t> or </a:t>
            </a:r>
            <a:r>
              <a:rPr lang="en-US" altLang="zh-CN" sz="2000" b="1" dirty="0"/>
              <a:t>penalties</a:t>
            </a:r>
            <a:r>
              <a:rPr lang="en-US" altLang="zh-CN" sz="2000" dirty="0"/>
              <a:t> for early bookings and high-risk channels (e.g., online).</a:t>
            </a:r>
          </a:p>
          <a:p>
            <a:pPr>
              <a:buFont typeface="+mj-lt"/>
              <a:buAutoNum type="arabicPeriod"/>
            </a:pPr>
            <a:r>
              <a:rPr lang="en-US" altLang="zh-CN" sz="2000" b="1" dirty="0"/>
              <a:t>Enhance Booking Commitment through Add-ons</a:t>
            </a:r>
            <a:endParaRPr lang="en-US" altLang="zh-CN" sz="2000" dirty="0"/>
          </a:p>
          <a:p>
            <a:pPr lvl="1"/>
            <a:r>
              <a:rPr lang="en-US" altLang="zh-CN" sz="2000" dirty="0"/>
              <a:t>Promote bookings with </a:t>
            </a:r>
            <a:r>
              <a:rPr lang="en-US" altLang="zh-CN" sz="2000" b="1" dirty="0"/>
              <a:t>meal plans</a:t>
            </a:r>
            <a:r>
              <a:rPr lang="en-US" altLang="zh-CN" sz="2000" dirty="0"/>
              <a:t>, </a:t>
            </a:r>
            <a:r>
              <a:rPr lang="en-US" altLang="zh-CN" sz="2000" b="1" dirty="0"/>
              <a:t>parking</a:t>
            </a:r>
            <a:r>
              <a:rPr lang="en-US" altLang="zh-CN" sz="2000" dirty="0"/>
              <a:t>, or </a:t>
            </a:r>
            <a:r>
              <a:rPr lang="en-US" altLang="zh-CN" sz="2000" b="1" dirty="0"/>
              <a:t>special requests </a:t>
            </a:r>
            <a:r>
              <a:rPr lang="en-US" altLang="zh-CN" sz="2000" dirty="0"/>
              <a:t>to reduce cancellation risk.</a:t>
            </a:r>
          </a:p>
          <a:p>
            <a:pPr>
              <a:buFont typeface="+mj-lt"/>
              <a:buAutoNum type="arabicPeriod"/>
            </a:pPr>
            <a:r>
              <a:rPr lang="en-US" altLang="zh-CN" sz="2000" b="1" dirty="0"/>
              <a:t>Use Lead Time Insights for Revenue Optimization</a:t>
            </a:r>
            <a:endParaRPr lang="en-US" altLang="zh-CN" sz="2000" dirty="0"/>
          </a:p>
          <a:p>
            <a:pPr lvl="1"/>
            <a:r>
              <a:rPr lang="en-US" altLang="zh-CN" sz="2000" dirty="0"/>
              <a:t>Monitor </a:t>
            </a:r>
            <a:r>
              <a:rPr lang="en-US" altLang="zh-CN" sz="2000" b="1" dirty="0"/>
              <a:t>lead days</a:t>
            </a:r>
            <a:r>
              <a:rPr lang="en-US" altLang="zh-CN" sz="2000" dirty="0"/>
              <a:t> and create </a:t>
            </a:r>
            <a:r>
              <a:rPr lang="en-US" altLang="zh-CN" sz="2000" b="1" dirty="0"/>
              <a:t>early-bird offers </a:t>
            </a:r>
            <a:r>
              <a:rPr lang="en-US" altLang="zh-CN" sz="2000" dirty="0"/>
              <a:t>with controlled flexibility.</a:t>
            </a:r>
          </a:p>
          <a:p>
            <a:pPr>
              <a:buFont typeface="+mj-lt"/>
              <a:buAutoNum type="arabicPeriod"/>
            </a:pPr>
            <a:r>
              <a:rPr lang="en-US" altLang="zh-CN" sz="2000" b="1" dirty="0"/>
              <a:t>Address High-Season Volatility</a:t>
            </a:r>
            <a:endParaRPr lang="en-US" altLang="zh-CN" sz="2000" dirty="0"/>
          </a:p>
          <a:p>
            <a:pPr lvl="1"/>
            <a:r>
              <a:rPr lang="en-US" altLang="zh-CN" sz="2000" dirty="0"/>
              <a:t>Prepare contingency plans for </a:t>
            </a:r>
            <a:r>
              <a:rPr lang="en-US" altLang="zh-CN" sz="2000" b="1" dirty="0"/>
              <a:t>peak</a:t>
            </a:r>
            <a:r>
              <a:rPr lang="en-US" altLang="zh-CN" sz="2000" dirty="0"/>
              <a:t> </a:t>
            </a:r>
            <a:r>
              <a:rPr lang="en-US" altLang="zh-CN" sz="2000" b="1" dirty="0"/>
              <a:t>cancellation</a:t>
            </a:r>
            <a:r>
              <a:rPr lang="en-US" altLang="zh-CN" sz="2000" dirty="0"/>
              <a:t> </a:t>
            </a:r>
            <a:r>
              <a:rPr lang="en-US" altLang="zh-CN" sz="2000" b="1" dirty="0"/>
              <a:t>months</a:t>
            </a:r>
            <a:r>
              <a:rPr lang="en-US" altLang="zh-CN" sz="2000" dirty="0"/>
              <a:t> (e.g., summer, October).</a:t>
            </a:r>
          </a:p>
          <a:p>
            <a:pPr>
              <a:buFont typeface="+mj-lt"/>
              <a:buAutoNum type="arabicPeriod"/>
            </a:pPr>
            <a:r>
              <a:rPr lang="en-US" altLang="zh-CN" sz="2000" b="1" dirty="0"/>
              <a:t>Introduce Loyalty &amp; Incentive Programs</a:t>
            </a:r>
            <a:endParaRPr lang="en-US" altLang="zh-CN" sz="2000" dirty="0"/>
          </a:p>
          <a:p>
            <a:pPr lvl="1"/>
            <a:r>
              <a:rPr lang="en-US" altLang="zh-CN" sz="2000" dirty="0"/>
              <a:t>Encourage return visits via </a:t>
            </a:r>
            <a:r>
              <a:rPr lang="en-US" altLang="zh-CN" sz="2000" b="1" dirty="0"/>
              <a:t>discounts</a:t>
            </a:r>
            <a:r>
              <a:rPr lang="en-US" altLang="zh-CN" sz="2000" dirty="0"/>
              <a:t>, </a:t>
            </a:r>
            <a:r>
              <a:rPr lang="en-US" altLang="zh-CN" sz="2000" b="1" dirty="0"/>
              <a:t>referrals</a:t>
            </a:r>
            <a:r>
              <a:rPr lang="en-US" altLang="zh-CN" sz="2000" dirty="0"/>
              <a:t>, or </a:t>
            </a:r>
            <a:r>
              <a:rPr lang="en-US" altLang="zh-CN" sz="2000" b="1" dirty="0"/>
              <a:t>exclusive perks </a:t>
            </a:r>
            <a:r>
              <a:rPr lang="en-US" altLang="zh-CN" sz="2000" dirty="0"/>
              <a:t>for loyal customers.</a:t>
            </a:r>
          </a:p>
          <a:p>
            <a:pPr>
              <a:buFont typeface="+mj-lt"/>
              <a:buAutoNum type="arabicPeriod"/>
            </a:pPr>
            <a:r>
              <a:rPr lang="en-US" altLang="zh-CN" sz="2000" b="1" dirty="0"/>
              <a:t>Strengthen Online Booking Management</a:t>
            </a:r>
            <a:endParaRPr lang="en-US" altLang="zh-CN" sz="2000" dirty="0"/>
          </a:p>
          <a:p>
            <a:pPr lvl="1"/>
            <a:r>
              <a:rPr lang="en-US" altLang="zh-CN" sz="2000" dirty="0"/>
              <a:t>Use </a:t>
            </a:r>
            <a:r>
              <a:rPr lang="en-US" altLang="zh-CN" sz="2000" b="1" dirty="0"/>
              <a:t>confirmation reminders, deposit requirements, or dynamic pricing </a:t>
            </a:r>
            <a:r>
              <a:rPr lang="en-US" altLang="zh-CN" sz="2000" dirty="0"/>
              <a:t>for online channels.</a:t>
            </a:r>
          </a:p>
        </p:txBody>
      </p:sp>
    </p:spTree>
    <p:extLst>
      <p:ext uri="{BB962C8B-B14F-4D97-AF65-F5344CB8AC3E}">
        <p14:creationId xmlns:p14="http://schemas.microsoft.com/office/powerpoint/2010/main" val="1655628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D45C-F0A1-F6A4-0480-A6E5AA7D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790265-DA1E-9F4D-B039-7022C7D2BBA4}"/>
              </a:ext>
            </a:extLst>
          </p:cNvPr>
          <p:cNvSpPr txBox="1">
            <a:spLocks/>
          </p:cNvSpPr>
          <p:nvPr/>
        </p:nvSpPr>
        <p:spPr>
          <a:xfrm>
            <a:off x="0" y="-93133"/>
            <a:ext cx="1168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zh-CN" b="1" dirty="0">
                <a:solidFill>
                  <a:srgbClr val="1B06BA"/>
                </a:solidFill>
                <a:latin typeface="Aptos Display" panose="02110004020202020204"/>
              </a:rPr>
              <a:t>Conclusions</a:t>
            </a:r>
            <a:r>
              <a:rPr lang="en-CA" b="1" dirty="0">
                <a:solidFill>
                  <a:srgbClr val="1B06BA"/>
                </a:solidFill>
                <a:latin typeface="Aptos Display" panose="02110004020202020204"/>
              </a:rPr>
              <a:t>:</a:t>
            </a:r>
            <a:br>
              <a:rPr lang="en-CA" b="1" dirty="0">
                <a:solidFill>
                  <a:srgbClr val="1B06BA"/>
                </a:solidFill>
                <a:latin typeface="Aptos Display" panose="02110004020202020204"/>
              </a:rPr>
            </a:br>
            <a:endParaRPr lang="en-CA" sz="2200" b="1" dirty="0">
              <a:solidFill>
                <a:srgbClr val="1B06BA"/>
              </a:solidFill>
              <a:latin typeface="Aptos Display" panose="0211000402020202020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3BBAE8-7DA8-9E96-E24A-1598E7385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351" y="870478"/>
            <a:ext cx="10863697" cy="58097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1900" b="1" dirty="0"/>
              <a:t>1. Identify Target Market &amp; Booking Patterns:</a:t>
            </a:r>
          </a:p>
          <a:p>
            <a:r>
              <a:rPr lang="en-US" altLang="zh-CN" sz="1900" b="1" dirty="0"/>
              <a:t>Online bookings</a:t>
            </a:r>
            <a:r>
              <a:rPr lang="en-US" altLang="zh-CN" sz="1900" dirty="0"/>
              <a:t> dominate, but also have the </a:t>
            </a:r>
            <a:r>
              <a:rPr lang="en-US" altLang="zh-CN" sz="1900" b="1" dirty="0"/>
              <a:t>highest cancellation rate</a:t>
            </a:r>
            <a:r>
              <a:rPr lang="en-US" altLang="zh-CN" sz="1900" dirty="0"/>
              <a:t>.</a:t>
            </a:r>
          </a:p>
          <a:p>
            <a:r>
              <a:rPr lang="en-US" altLang="zh-CN" sz="1900" b="1" dirty="0"/>
              <a:t>Corporate</a:t>
            </a:r>
            <a:r>
              <a:rPr lang="en-US" altLang="zh-CN" sz="1900" dirty="0"/>
              <a:t> and </a:t>
            </a:r>
            <a:r>
              <a:rPr lang="en-US" altLang="zh-CN" sz="1900" b="1" dirty="0"/>
              <a:t>Offline</a:t>
            </a:r>
            <a:r>
              <a:rPr lang="en-US" altLang="zh-CN" sz="1900" dirty="0"/>
              <a:t> bookings are more stable and generate consistent revenue</a:t>
            </a:r>
            <a:r>
              <a:rPr lang="en-US" altLang="zh-CN" sz="1900" b="1" dirty="0"/>
              <a:t>.</a:t>
            </a:r>
          </a:p>
          <a:p>
            <a:r>
              <a:rPr lang="en-US" altLang="zh-CN" sz="1900" dirty="0"/>
              <a:t>Repeated guests are extremely </a:t>
            </a:r>
            <a:r>
              <a:rPr lang="en-US" altLang="zh-CN" sz="1900" b="1" dirty="0"/>
              <a:t>loyal</a:t>
            </a:r>
            <a:r>
              <a:rPr lang="en-US" altLang="zh-CN" sz="1900" dirty="0"/>
              <a:t> and rarely cancel</a:t>
            </a:r>
            <a:endParaRPr lang="en-US" altLang="zh-CN" sz="1900" b="1" dirty="0"/>
          </a:p>
          <a:p>
            <a:pPr>
              <a:buNone/>
            </a:pPr>
            <a:r>
              <a:rPr lang="en-US" altLang="zh-CN" sz="1900" b="1" dirty="0"/>
              <a:t>2. Booking &amp; Cancellation Trends Over Time: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900" b="1" dirty="0"/>
              <a:t>High cancellation rates</a:t>
            </a:r>
            <a:r>
              <a:rPr lang="en-US" altLang="zh-CN" sz="1900" dirty="0"/>
              <a:t> are observed in </a:t>
            </a:r>
            <a:r>
              <a:rPr lang="en-US" altLang="zh-CN" sz="1900" b="1" dirty="0"/>
              <a:t>peak months</a:t>
            </a:r>
            <a:r>
              <a:rPr lang="en-US" altLang="zh-CN" sz="1900" dirty="0"/>
              <a:t> (especially summer and fall).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900" b="1" dirty="0"/>
              <a:t>Early bookings (120+ days in advance)</a:t>
            </a:r>
            <a:r>
              <a:rPr lang="en-US" altLang="zh-CN" sz="1900" dirty="0"/>
              <a:t> have the </a:t>
            </a:r>
            <a:r>
              <a:rPr lang="en-US" altLang="zh-CN" sz="1900" b="1" dirty="0"/>
              <a:t>highest cancellation probability</a:t>
            </a:r>
            <a:r>
              <a:rPr lang="en-US" altLang="zh-CN" sz="1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900" b="1" dirty="0"/>
              <a:t>Last-minute bookings (0–30 days)</a:t>
            </a:r>
            <a:r>
              <a:rPr lang="en-US" altLang="zh-CN" sz="1900" dirty="0"/>
              <a:t> are more likely to be honored.</a:t>
            </a:r>
          </a:p>
          <a:p>
            <a:pPr>
              <a:buNone/>
            </a:pPr>
            <a:r>
              <a:rPr lang="en-US" altLang="zh-CN" sz="1900" b="1" dirty="0"/>
              <a:t>3. </a:t>
            </a:r>
            <a:r>
              <a:rPr lang="en-CA" altLang="zh-CN" sz="1900" b="1" dirty="0"/>
              <a:t>Financial Impact &amp; Pricing Risk</a:t>
            </a:r>
            <a:r>
              <a:rPr lang="en-US" altLang="zh-CN" sz="1900" b="1" dirty="0"/>
              <a:t>:</a:t>
            </a:r>
          </a:p>
          <a:p>
            <a:r>
              <a:rPr lang="en-US" altLang="zh-CN" sz="1900" dirty="0"/>
              <a:t>Channels like Online and Aviation have </a:t>
            </a:r>
            <a:r>
              <a:rPr lang="en-US" altLang="zh-CN" sz="1900" b="1" dirty="0"/>
              <a:t>high average prices</a:t>
            </a:r>
            <a:r>
              <a:rPr lang="en-US" altLang="zh-CN" sz="1900" dirty="0"/>
              <a:t>, but also </a:t>
            </a:r>
            <a:r>
              <a:rPr lang="en-US" altLang="zh-CN" sz="1900" b="1" dirty="0"/>
              <a:t>high cancellation rates</a:t>
            </a:r>
            <a:r>
              <a:rPr lang="en-US" altLang="zh-CN" sz="1900" dirty="0"/>
              <a:t>.</a:t>
            </a:r>
            <a:endParaRPr lang="en-US" altLang="zh-CN" sz="1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900" dirty="0"/>
              <a:t>This leads to potential </a:t>
            </a:r>
            <a:r>
              <a:rPr lang="en-US" altLang="zh-CN" sz="1900" b="1" dirty="0"/>
              <a:t>revenue loss and resource misallocation</a:t>
            </a:r>
            <a:r>
              <a:rPr lang="en-US" altLang="zh-CN" sz="1900" dirty="0"/>
              <a:t>.</a:t>
            </a:r>
          </a:p>
          <a:p>
            <a:pPr marL="0" indent="0">
              <a:buNone/>
            </a:pPr>
            <a:r>
              <a:rPr lang="en-US" altLang="zh-CN" sz="1900" b="1" dirty="0"/>
              <a:t>4. </a:t>
            </a:r>
            <a:r>
              <a:rPr lang="en-CA" altLang="zh-CN" sz="1900" b="1" dirty="0"/>
              <a:t>Customer Preferences &amp; Cancellation:</a:t>
            </a:r>
          </a:p>
          <a:p>
            <a:r>
              <a:rPr lang="en-US" altLang="zh-CN" sz="1900" dirty="0"/>
              <a:t>Guests with </a:t>
            </a:r>
            <a:r>
              <a:rPr lang="en-US" altLang="zh-CN" sz="1900" b="1" dirty="0"/>
              <a:t>special requests</a:t>
            </a:r>
            <a:r>
              <a:rPr lang="en-US" altLang="zh-CN" sz="1900" dirty="0"/>
              <a:t>, </a:t>
            </a:r>
            <a:r>
              <a:rPr lang="en-US" altLang="zh-CN" sz="1900" b="1" dirty="0"/>
              <a:t>meal plans</a:t>
            </a:r>
            <a:r>
              <a:rPr lang="en-US" altLang="zh-CN" sz="1900" dirty="0"/>
              <a:t>, or </a:t>
            </a:r>
            <a:r>
              <a:rPr lang="en-US" altLang="zh-CN" sz="1900" b="1" dirty="0"/>
              <a:t>parking needs</a:t>
            </a:r>
            <a:r>
              <a:rPr lang="en-US" altLang="zh-CN" sz="1900" dirty="0"/>
              <a:t> are </a:t>
            </a:r>
            <a:r>
              <a:rPr lang="en-US" altLang="zh-CN" sz="1900" b="1" dirty="0"/>
              <a:t>significantly less likely to cancel</a:t>
            </a:r>
            <a:r>
              <a:rPr lang="en-US" altLang="zh-CN" sz="1900" dirty="0"/>
              <a:t>.</a:t>
            </a:r>
            <a:endParaRPr lang="en-CA" altLang="zh-CN" sz="1900" b="1" dirty="0"/>
          </a:p>
          <a:p>
            <a:r>
              <a:rPr lang="en-US" altLang="zh-CN" sz="1900" dirty="0"/>
              <a:t>These customers demonstrate </a:t>
            </a:r>
            <a:r>
              <a:rPr lang="en-US" altLang="zh-CN" sz="1900" b="1" dirty="0"/>
              <a:t>higher commitment and service sensitivity</a:t>
            </a:r>
            <a:r>
              <a:rPr lang="en-US" altLang="zh-CN" sz="1900" dirty="0"/>
              <a:t>.</a:t>
            </a:r>
          </a:p>
          <a:p>
            <a:pPr marL="0" indent="0">
              <a:buNone/>
            </a:pPr>
            <a:r>
              <a:rPr lang="en-CA" altLang="zh-CN" sz="1900" b="1" dirty="0"/>
              <a:t>5. Customer Retention &amp; Loyalty:</a:t>
            </a:r>
          </a:p>
          <a:p>
            <a:r>
              <a:rPr lang="en-US" altLang="zh-CN" sz="1900" dirty="0"/>
              <a:t>Repeated guests represent only </a:t>
            </a:r>
            <a:r>
              <a:rPr lang="en-US" altLang="zh-CN" sz="1900" b="1" dirty="0"/>
              <a:t>2.6% of total bookings</a:t>
            </a:r>
            <a:r>
              <a:rPr lang="en-US" altLang="zh-CN" sz="1900" dirty="0"/>
              <a:t>, but account for </a:t>
            </a:r>
            <a:r>
              <a:rPr lang="en-US" altLang="zh-CN" sz="1900" b="1" dirty="0"/>
              <a:t>less than 1.3% of cancellations</a:t>
            </a:r>
            <a:r>
              <a:rPr lang="en-US" altLang="zh-CN" sz="1900" dirty="0"/>
              <a:t>.</a:t>
            </a:r>
          </a:p>
          <a:p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1050" dirty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95235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830</TotalTime>
  <Words>2930</Words>
  <Application>Microsoft Office PowerPoint</Application>
  <PresentationFormat>Widescreen</PresentationFormat>
  <Paragraphs>297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等线</vt:lpstr>
      <vt:lpstr>Aptos Display</vt:lpstr>
      <vt:lpstr>Arial</vt:lpstr>
      <vt:lpstr>Calibri</vt:lpstr>
      <vt:lpstr>Calibri Light</vt:lpstr>
      <vt:lpstr>Century Gothic</vt:lpstr>
      <vt:lpstr>Office 2013 - 2022 Theme</vt:lpstr>
      <vt:lpstr>Hotel Booking Cancellation Analysis</vt:lpstr>
      <vt:lpstr>Contents / Agenda</vt:lpstr>
      <vt:lpstr>Business Problem Overview and Solution Approach</vt:lpstr>
      <vt:lpstr>Data Dictionary</vt:lpstr>
      <vt:lpstr>Data Dictionary</vt:lpstr>
      <vt:lpstr>Data Dictionary</vt:lpstr>
      <vt:lpstr>Data Dictionary</vt:lpstr>
      <vt:lpstr>Exploratory Data Analysis (EDA)</vt:lpstr>
      <vt:lpstr>EDA – Univariate Analysis: Strategies to effectively manage and accommodate the increased demand</vt:lpstr>
      <vt:lpstr>PowerPoint Presentation</vt:lpstr>
      <vt:lpstr>EDA – Univariate Analysis: Strategies to effectively manage and accommodate the increased demand</vt:lpstr>
      <vt:lpstr>EDA – Univariate Analysis: Percentage of bookings made online versus offline</vt:lpstr>
      <vt:lpstr>EDA – Univariate Analysis: Percentage of bookings made online versus offline</vt:lpstr>
      <vt:lpstr>EDA – Univariate Analysis: Percentage of bookings made online versus offline</vt:lpstr>
      <vt:lpstr>EDA – Univariate Analysis: Percentage of bookings are cancelled</vt:lpstr>
      <vt:lpstr>EDA – Univariate Analysis: Percentage of bookings are cancelled</vt:lpstr>
      <vt:lpstr>EDA – Univariate Analysis: Percentage of bookings are cancelled</vt:lpstr>
      <vt:lpstr>EDA – Univariate Analysis: Repeated Guests</vt:lpstr>
      <vt:lpstr>EDA – Univariate Analysis: Repeated Guests</vt:lpstr>
      <vt:lpstr>EDA – Univariate Analysis: Repeated Guests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Ramkalawan, Daryl</dc:creator>
  <cp:lastModifiedBy>Zhang, Ke</cp:lastModifiedBy>
  <cp:revision>45</cp:revision>
  <dcterms:created xsi:type="dcterms:W3CDTF">2024-11-08T03:35:32Z</dcterms:created>
  <dcterms:modified xsi:type="dcterms:W3CDTF">2025-03-28T18:27:03Z</dcterms:modified>
</cp:coreProperties>
</file>